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Validación cruzada</c:v>
                </c:pt>
              </c:strCache>
            </c:strRef>
          </c:tx>
          <c:spPr>
            <a:solidFill>
              <a:srgbClr val="CBD5E1"/>
            </a:solidFill>
          </c:spPr>
          <c:cat>
            <c:strRef>
              <c:f>Sheet1!$A$2:$A$5</c:f>
              <c:strCache>
                <c:ptCount val="4"/>
                <c:pt idx="0">
                  <c:v>Regresión logística</c:v>
                </c:pt>
                <c:pt idx="1">
                  <c:v>SVM</c:v>
                </c:pt>
                <c:pt idx="2">
                  <c:v>Árbol de decisión</c:v>
                </c:pt>
                <c:pt idx="3">
                  <c:v>KNN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0.8464</c:v>
                </c:pt>
                <c:pt idx="1">
                  <c:v>0.8482</c:v>
                </c:pt>
                <c:pt idx="2">
                  <c:v>0.875</c:v>
                </c:pt>
                <c:pt idx="3">
                  <c:v>0.8482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Prueba</c:v>
                </c:pt>
              </c:strCache>
            </c:strRef>
          </c:tx>
          <c:spPr>
            <a:solidFill>
              <a:srgbClr val="F26B1D"/>
            </a:solidFill>
          </c:spPr>
          <c:cat>
            <c:strRef>
              <c:f>Sheet1!$A$2:$A$5</c:f>
              <c:strCache>
                <c:ptCount val="4"/>
                <c:pt idx="0">
                  <c:v>Regresión logística</c:v>
                </c:pt>
                <c:pt idx="1">
                  <c:v>SVM</c:v>
                </c:pt>
                <c:pt idx="2">
                  <c:v>Árbol de decisión</c:v>
                </c:pt>
                <c:pt idx="3">
                  <c:v>KNN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0.8333</c:v>
                </c:pt>
                <c:pt idx="1">
                  <c:v>0.8333</c:v>
                </c:pt>
                <c:pt idx="2">
                  <c:v>0.8333</c:v>
                </c:pt>
                <c:pt idx="3">
                  <c:v>0.8333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200">
                  <a:solidFill>
                    <a:srgbClr val="1E293B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BD5E1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"/>
          <c:min val="0.0"/>
        </c:scaling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64748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Presentación del proyecto final. En una frase: usamos datos públicos de lanzamientos de SpaceX para predecir si la primera etapa del cohete Falcon 9 aterrizará, porque de eso depende el precio de un lanzamiento.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Recorrido de la presentación siguiendo la estructura del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clave: con datos públicos y modelos sencillos se puede anticipar si el booster aterrizará en aproximadamente 8 de cada 10 lanzamientos de prueba. Explicar brevemente las fases de la metodología.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SpaceX anuncia lanzamientos del Falcon 9 por unos 62 millones de dólares; otros proveedores superan los 165 millones. La diferencia se explica porque SpaceX reutiliza la primera etapa. Si sabemos predecir si aterrizará, podemos estimar el coste de un lanzamiento: útil para una empresa que quiera competir con SpaceX en una licitación.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Sección 1: Metodología.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proyecto es una tubería de datos completa: obtener datos, limpiarlos, explorarlos, visualizarlos de forma interactiva y finalmente entrenar modelos que predicen el aterrizaje.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fuentes complementarias: la API de SpaceX (datos estructurados en JSON) y la tabla de lanzamientos de Wikipedia (HTML). Ambas se convierten en tablas de pandas.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descarga el histórico de lanzamientos, se filtran las misiones simples y se completan los datos consultando los demás endpoints. Al final se queda solo el Falcon 9 y se rellenan las masas que faltan con la media.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descarga una versión fija de la página de Wikipedia para que el resultado sea reproducible, se buscan las tablas de lanzamientos y se extrae cada fila a un diccionario que luego se convierte en DataFrame.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columna Outcome combina si el aterrizaje tuvo éxito y dónde se intentó. La convertimos en una etiqueta binaria: 1 si aterrizó, 0 si no. Es la variable que el modelo aprenderá a predecir.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gráfico responde una pregunta concreta. Los diagramas de dispersión muestran relaciones entre dos variables, la barra compara tasas entre categorías y la línea muestra la evolución en el tiempo.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cargó el dataset en una base SQLite y se respondieron diez preguntas con SQL: filtros con WHERE y LIKE, agregaciones con SUM, AVG, MIN y COUNT, agrupaciones con GROUP BY y una subconsulta.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Folium crea mapas interactivos en HTML. Marcamos los sitios, agrupamos los lanzamientos con colores según el resultado y medimos distancias a la costa, el ferrocarril, la autopista y la ciudad más cercana.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dashboard permite explorar los datos sin programar: eliges un sitio y un rango de masa y los gráficos se actualizan solos mediante callbacks.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Proceso estándar de aprendizaje supervisado: estandarizar, separar datos de prueba que el modelo nunca ve, buscar los mejores hiperparámetros con validación cruzada y comparar en el conjunto de prueba.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Vista previa de los tres bloques de resultados que se detallan a continuación.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Sección 2: Hallazgos del EDA.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punto es un lanzamiento. Verde: aterrizó; rojo: no. Hacia la derecha (más experiencia) predomina el verde.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Relación entre la masa de la carga y el sitio. No hay una relación simple: la masa por sí sola no 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barra muestra el porcentaje de aterrizajes exitosos en cada órbita. Ojo: algunas órbitas con 100 % tienen solo uno o dos lanzamientos, así que no son concluyentes.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Combina experiencia y órbita: no todas las órbitas se benefician igual de la experiencia.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algunas órbitas, más masa no impide aterrizar; para GTO la relación no es clara.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línea muestra el porcentaje de aterrizajes exitosos por año. Desde 2013 la tendencia es claramente ascendente: SpaceX aprendió a aterrizar sus cohetes.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Consulta SQL 1. A la izquierda la consulta, a la derecha el resultado. Idea clave: Hay 4 sitios: dos en Cabo Cañaveral (CCAFS LC-40 y SLC-40), uno en Kennedy (KSC LC-39A) y uno en Vandenberg (VAFB SLC-4E).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Consulta SQL 2. A la izquierda la consulta, a la derecha el resultado. Idea clave: Los primeros lanzamientos desde Cabo Cañaveral llevaban cápsulas Dragon de prueba y misiones CRS para la NASA.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Consulta SQL 3. A la izquierda la consulta, a la derecha el resultado. Idea clave: Masa total transportada para el programa de reabastecimiento de la NASA (CRS).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Consulta SQL 4. A la izquierda la consulta, a la derecha el resultado. Idea clave: Masa media que transportaba la versión F9 v1.1 del booster.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Consulta SQL 5. A la izquierda la consulta, a la derecha el resultado. Idea clave: El primer aterrizaje exitoso en tierra llegó más de cinco años después del primer lanzamiento.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Consulta SQL 6. A la izquierda la consulta, a la derecha el resultado. Idea clave: Boosters de la versión FT que aterrizaron en barcaza con cargas medianas.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Consulta SQL 7. A la izquierda la consulta, a la derecha el resultado. Idea clave: Las misiones casi nunca fallan: el reto real es recuperar el booster.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Consulta SQL 8. A la izquierda la consulta, a la derecha el resultado. Idea clave: Los boosters Block 5 son los que transportaron la carga máxima.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Consulta SQL 9. A la izquierda la consulta, a la derecha el resultado. Idea clave: En 2015 los intentos de aterrizaje en barcaza fallaban: SpaceX aún estaba aprendiendo.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Consulta SQL 10. A la izquierda la consulta, a la derecha el resultado. Idea clave: Entre 2010 y 2017 dominan “No attempt” y los intentos en barcaza: era una etapa experimental.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Sección 3: Análisis de proximidad.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Mapa con los cuatro sitios marcados. Señalar que todos están junto al mar.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marcador es un lanzamiento coloreado según su resultado.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Distancias a costa, ferrocarril, autopista y ciudad. El sitio está a muy poca distancia del mar y de las vías de transporte, y lejos de núcleos urbanos.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Sección 4: Dashboard con Plotly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Gráfico de pastel con todos los sitios.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 elegir un sitio en el desplegable, el pastel muestra su proporción de éxito y fallo.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Dispersión con todo el rango de masa. Cada color es una versión del booster.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misma dispersión tras reducir el rango de masa con el control deslizante.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Sección 5: Análisis predictivo.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Gris: exactitud media en validación cruzada (dentro del entrenamiento). Naranja: exactitud sobre los lanzamientos de prueba que el modelo nunca vio. Con tan pocos datos de prueba, varios modelos empatan.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matriz compara lo que predijo el modelo con lo que pasó de verdad. La diagonal (verde) son aciertos; fuera de la diagonal están los errores.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Cerrar con las respuestas a las preguntas del inicio. El aprendizaje principal: la experiencia, la órbita y el sitio influyen en el aterrizaje, y un modelo sencillo acierta la gran mayoría de los casos de prueba.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Propuestas para llevar el proyecto más allá del curso. Son ideas, no resultados: hay que presentarlas como trabajo futuro.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Dónde está cada parte del trabajo y cómo reproducirlo.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github.com/alessandroxlc/spacex-falcon9-capstone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github.com/alessandroxlc/spacex-falcon9-capstone/blob/main/notebooks/01_data_collection_api.ipynb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github.com/alessandroxlc/spacex-falcon9-capstone/blob/main/notebooks/02_data_collection_webscraping.ipynb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github.com/alessandroxlc/spacex-falcon9-capstone/blob/main/notebooks/03_data_wrangling.ipynb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github.com/alessandroxlc/spacex-falcon9-capstone/blob/main/notebooks/05_eda_visualization.ipynb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github.com/alessandroxlc/spacex-falcon9-capstone/blob/main/notebooks/04_eda_sql.ipynb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github.com/alessandroxlc/spacex-falcon9-capstone/blob/main/notebooks/06_interactive_map_folium.ipynb" TargetMode="External"/><Relationship Id="rId4" Type="http://schemas.openxmlformats.org/officeDocument/2006/relationships/hyperlink" Target="https://github.com/alessandroxlc/spacex-falcon9-capstone/blob/main/dashboard/spacex_dash_app.py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github.com/alessandroxlc/spacex-falcon9-capstone/blob/main/notebooks/06_interactive_map_folium.ipynb" TargetMode="External"/><Relationship Id="rId4" Type="http://schemas.openxmlformats.org/officeDocument/2006/relationships/hyperlink" Target="https://github.com/alessandroxlc/spacex-falcon9-capstone/blob/main/dashboard/spacex_dash_app.py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github.com/alessandroxlc/spacex-falcon9-capstone/blob/main/notebooks/07_machine_learning_prediction.ipynb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chart" Target="../charts/chart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Relationship Id="rId3" Type="http://schemas.openxmlformats.org/officeDocument/2006/relationships/hyperlink" Target="https://github.com/alessandroxlc/spacex-falcon9-capstone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188720"/>
            <a:ext cx="914400" cy="91440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F9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42316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26B1D"/>
                </a:solidFill>
                <a:latin typeface="Calibri"/>
              </a:rPr>
              <a:t>IBM APPLIED DATA SCIENCE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8892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Calibri"/>
              </a:rPr>
              <a:t>¿Aterrizará la primera etapa?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49039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CBD5E1"/>
                </a:solidFill>
                <a:latin typeface="Calibri"/>
              </a:rPr>
              <a:t>Predicción del aterrizaje del SpaceX Falcon 9 con ciencia de datos y machine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12064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alessandroxlc</a:t>
            </a:r>
          </a:p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04/10/2026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436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26B1D"/>
                </a:solidFill>
                <a:latin typeface="Calibri"/>
                <a:hlinkClick r:id="rId3"/>
              </a:rPr>
              <a:t>Repositorio GitHub: https://github.com/alessandroxlc/spacex-falcon9-capstone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OUTLINE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Índice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alessandroxlc · SpaceX Falcon 9 · IBM Data Science Capstone   2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554480"/>
            <a:ext cx="4572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E293B"/>
                </a:solidFill>
                <a:latin typeface="Calibri"/>
              </a:rPr>
              <a:t>Resumen ejecutivo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46888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468880"/>
            <a:ext cx="4572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E293B"/>
                </a:solidFill>
                <a:latin typeface="Calibri"/>
              </a:rPr>
              <a:t>Introducción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38328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383280"/>
            <a:ext cx="4572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E293B"/>
                </a:solidFill>
                <a:latin typeface="Calibri"/>
              </a:rPr>
              <a:t>Metodología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29768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297680"/>
            <a:ext cx="4572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E293B"/>
                </a:solidFill>
                <a:latin typeface="Calibri"/>
              </a:rPr>
              <a:t>Resultados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21208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5212080"/>
            <a:ext cx="4572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E293B"/>
                </a:solidFill>
                <a:latin typeface="Calibri"/>
              </a:rPr>
              <a:t>Hallazgos del EDA (visualización y SQL)</a:t>
            </a:r>
          </a:p>
        </p:txBody>
      </p:sp>
      <p:sp>
        <p:nvSpPr>
          <p:cNvPr id="15" name="Oval 14"/>
          <p:cNvSpPr/>
          <p:nvPr/>
        </p:nvSpPr>
        <p:spPr>
          <a:xfrm>
            <a:off x="6126480" y="155448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554480"/>
            <a:ext cx="4572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E293B"/>
                </a:solidFill>
                <a:latin typeface="Calibri"/>
              </a:rPr>
              <a:t>Análisis de proximidad con Folium</a:t>
            </a:r>
          </a:p>
        </p:txBody>
      </p:sp>
      <p:sp>
        <p:nvSpPr>
          <p:cNvPr id="17" name="Oval 16"/>
          <p:cNvSpPr/>
          <p:nvPr/>
        </p:nvSpPr>
        <p:spPr>
          <a:xfrm>
            <a:off x="6126480" y="246888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468880"/>
            <a:ext cx="4572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E293B"/>
                </a:solidFill>
                <a:latin typeface="Calibri"/>
              </a:rPr>
              <a:t>Dashboard con Plotly Dash</a:t>
            </a:r>
          </a:p>
        </p:txBody>
      </p:sp>
      <p:sp>
        <p:nvSpPr>
          <p:cNvPr id="19" name="Oval 18"/>
          <p:cNvSpPr/>
          <p:nvPr/>
        </p:nvSpPr>
        <p:spPr>
          <a:xfrm>
            <a:off x="6126480" y="338328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3383280"/>
            <a:ext cx="4572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E293B"/>
                </a:solidFill>
                <a:latin typeface="Calibri"/>
              </a:rPr>
              <a:t>Análisis predictivo (clasificación)</a:t>
            </a:r>
          </a:p>
        </p:txBody>
      </p:sp>
      <p:sp>
        <p:nvSpPr>
          <p:cNvPr id="21" name="Oval 20"/>
          <p:cNvSpPr/>
          <p:nvPr/>
        </p:nvSpPr>
        <p:spPr>
          <a:xfrm>
            <a:off x="6126480" y="429768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4297680"/>
            <a:ext cx="4572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E293B"/>
                </a:solidFill>
                <a:latin typeface="Calibri"/>
              </a:rPr>
              <a:t>Conclusiones</a:t>
            </a:r>
          </a:p>
        </p:txBody>
      </p:sp>
      <p:sp>
        <p:nvSpPr>
          <p:cNvPr id="23" name="Oval 22"/>
          <p:cNvSpPr/>
          <p:nvPr/>
        </p:nvSpPr>
        <p:spPr>
          <a:xfrm>
            <a:off x="6126480" y="521208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5212080"/>
            <a:ext cx="4572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E293B"/>
                </a:solidFill>
                <a:latin typeface="Calibri"/>
              </a:rPr>
              <a:t>Apéndice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Resumen ejecutivo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27648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Fuente: valores de referencia del laboratorio IBM (ejecuta el notebook 07 para regenerarlos)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alessandroxlc · SpaceX Falcon 9 · IBM Data Science Capstone  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6583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B1220"/>
                </a:solidFill>
                <a:latin typeface="Calibri"/>
              </a:rPr>
              <a:t>Metodología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74520"/>
            <a:ext cx="65836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1200"/>
              </a:spcAft>
              <a:buClr>
                <a:srgbClr val="F26B1D"/>
              </a:buClr>
              <a:buFont typeface="Arial"/>
              <a:buChar char="•"/>
            </a:pPr>
            <a:r>
              <a:rPr sz="1600" b="1">
                <a:solidFill>
                  <a:srgbClr val="1E293B"/>
                </a:solidFill>
                <a:latin typeface="Calibri"/>
              </a:rPr>
              <a:t>Recolección: </a:t>
            </a:r>
            <a:r>
              <a:rPr sz="1600" b="0">
                <a:solidFill>
                  <a:srgbClr val="1E293B"/>
                </a:solidFill>
                <a:latin typeface="Calibri"/>
              </a:rPr>
              <a:t>API REST de SpaceX y web scraping de Wikipedia.</a:t>
            </a:r>
          </a:p>
          <a:p>
            <a:pPr marL="274320" indent="-274320">
              <a:spcAft>
                <a:spcPts val="1200"/>
              </a:spcAft>
              <a:buClr>
                <a:srgbClr val="F26B1D"/>
              </a:buClr>
              <a:buFont typeface="Arial"/>
              <a:buChar char="•"/>
            </a:pPr>
            <a:r>
              <a:rPr sz="1600" b="1">
                <a:solidFill>
                  <a:srgbClr val="1E293B"/>
                </a:solidFill>
                <a:latin typeface="Calibri"/>
              </a:rPr>
              <a:t>Preparación: </a:t>
            </a:r>
            <a:r>
              <a:rPr sz="1600" b="0">
                <a:solidFill>
                  <a:srgbClr val="1E293B"/>
                </a:solidFill>
                <a:latin typeface="Calibri"/>
              </a:rPr>
              <a:t>limpieza, imputación y etiqueta binaria Class (1 = aterrizó).</a:t>
            </a:r>
          </a:p>
          <a:p>
            <a:pPr marL="274320" indent="-274320">
              <a:spcAft>
                <a:spcPts val="1200"/>
              </a:spcAft>
              <a:buClr>
                <a:srgbClr val="F26B1D"/>
              </a:buClr>
              <a:buFont typeface="Arial"/>
              <a:buChar char="•"/>
            </a:pPr>
            <a:r>
              <a:rPr sz="1600" b="1">
                <a:solidFill>
                  <a:srgbClr val="1E293B"/>
                </a:solidFill>
                <a:latin typeface="Calibri"/>
              </a:rPr>
              <a:t>EDA: </a:t>
            </a:r>
            <a:r>
              <a:rPr sz="1600" b="0">
                <a:solidFill>
                  <a:srgbClr val="1E293B"/>
                </a:solidFill>
                <a:latin typeface="Calibri"/>
              </a:rPr>
              <a:t>gráficos con Seaborn y 10 consultas SQL.</a:t>
            </a:r>
          </a:p>
          <a:p>
            <a:pPr marL="274320" indent="-274320">
              <a:spcAft>
                <a:spcPts val="1200"/>
              </a:spcAft>
              <a:buClr>
                <a:srgbClr val="F26B1D"/>
              </a:buClr>
              <a:buFont typeface="Arial"/>
              <a:buChar char="•"/>
            </a:pPr>
            <a:r>
              <a:rPr sz="1600" b="1">
                <a:solidFill>
                  <a:srgbClr val="1E293B"/>
                </a:solidFill>
                <a:latin typeface="Calibri"/>
              </a:rPr>
              <a:t>Analítica interactiva: </a:t>
            </a:r>
            <a:r>
              <a:rPr sz="1600" b="0">
                <a:solidFill>
                  <a:srgbClr val="1E293B"/>
                </a:solidFill>
                <a:latin typeface="Calibri"/>
              </a:rPr>
              <a:t>mapas con Folium y dashboard con Plotly Dash.</a:t>
            </a:r>
          </a:p>
          <a:p>
            <a:pPr marL="274320" indent="-274320">
              <a:spcAft>
                <a:spcPts val="1200"/>
              </a:spcAft>
              <a:buClr>
                <a:srgbClr val="F26B1D"/>
              </a:buClr>
              <a:buFont typeface="Arial"/>
              <a:buChar char="•"/>
            </a:pPr>
            <a:r>
              <a:rPr sz="1600" b="1">
                <a:solidFill>
                  <a:srgbClr val="1E293B"/>
                </a:solidFill>
                <a:latin typeface="Calibri"/>
              </a:rPr>
              <a:t>Modelado: </a:t>
            </a:r>
            <a:r>
              <a:rPr sz="1600" b="0">
                <a:solidFill>
                  <a:srgbClr val="1E293B"/>
                </a:solidFill>
                <a:latin typeface="Calibri"/>
              </a:rPr>
              <a:t>regresión logística, SVM, árbol de decisión y KNN con GridSearchCV.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325880"/>
            <a:ext cx="4050791" cy="466344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955280" y="1600200"/>
            <a:ext cx="3474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26B1D"/>
                </a:solidFill>
                <a:latin typeface="Calibri"/>
              </a:rPr>
              <a:t>83,33 %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2423160"/>
            <a:ext cx="3474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exactitud en el conjunto de prueba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0" y="3063240"/>
            <a:ext cx="3474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0" y="3886200"/>
            <a:ext cx="3474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Calibri"/>
              </a:rPr>
              <a:t>modelos de clasificación comparados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0" y="4526280"/>
            <a:ext cx="3474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0" y="5349240"/>
            <a:ext cx="3474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Calibri"/>
              </a:rPr>
              <a:t>lanzamientos Falcon 9 analizados (2010–2020)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Introducción: el valor de reutilizar el cohete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27648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Fuente de precios: enunciado del curso IBM Applied Data Science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alessandroxlc · SpaceX Falcon 9 · IBM Data Science Capstone  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3291840" cy="21031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68680" y="160020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1FA67A"/>
                </a:solidFill>
                <a:latin typeface="Calibri"/>
              </a:rPr>
              <a:t>62 M$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E293B"/>
                </a:solidFill>
                <a:latin typeface="Calibri"/>
              </a:rPr>
              <a:t>precio publicado por SpaceX para un Falcon 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0" y="1325880"/>
            <a:ext cx="3291840" cy="21031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434840" y="160020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D64545"/>
                </a:solidFill>
                <a:latin typeface="Calibri"/>
              </a:rPr>
              <a:t>165 M$+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42316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E293B"/>
                </a:solidFill>
                <a:latin typeface="Calibri"/>
              </a:rPr>
              <a:t>coste habitual de otros proveedores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B1220"/>
                </a:solidFill>
                <a:latin typeface="Calibri"/>
              </a:rPr>
              <a:t>La diferencia: SpaceX recupera y reutiliza la primera etapa del cohete.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43400"/>
            <a:ext cx="6858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8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Si el booster aterriza, el lanzamiento es más barato.</a:t>
            </a:r>
          </a:p>
          <a:p>
            <a:pPr marL="274320" indent="-274320">
              <a:spcAft>
                <a:spcPts val="8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Predecir el aterrizaje permite estimar el coste de cada misión.</a:t>
            </a:r>
          </a:p>
          <a:p>
            <a:pPr marL="274320" indent="-274320">
              <a:spcAft>
                <a:spcPts val="8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Una empresa competidora (como la ficticia SpaceY) puede usarlo para preparar sus ofertas.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1325880"/>
            <a:ext cx="3749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B1220"/>
                </a:solidFill>
                <a:latin typeface="Calibri"/>
              </a:rPr>
              <a:t>Preguntas a responder</a:t>
            </a:r>
          </a:p>
        </p:txBody>
      </p:sp>
      <p:sp>
        <p:nvSpPr>
          <p:cNvPr id="15" name="Oval 14"/>
          <p:cNvSpPr/>
          <p:nvPr/>
        </p:nvSpPr>
        <p:spPr>
          <a:xfrm>
            <a:off x="7863840" y="1965960"/>
            <a:ext cx="457200" cy="45720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192024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¿Qué variables influyen en el éxito del aterrizaje?</a:t>
            </a:r>
          </a:p>
        </p:txBody>
      </p:sp>
      <p:sp>
        <p:nvSpPr>
          <p:cNvPr id="17" name="Oval 16"/>
          <p:cNvSpPr/>
          <p:nvPr/>
        </p:nvSpPr>
        <p:spPr>
          <a:xfrm>
            <a:off x="7863840" y="2971800"/>
            <a:ext cx="457200" cy="45720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292608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¿Cómo ha evolucionado la tasa de éxito con los años?</a:t>
            </a:r>
          </a:p>
        </p:txBody>
      </p:sp>
      <p:sp>
        <p:nvSpPr>
          <p:cNvPr id="19" name="Oval 18"/>
          <p:cNvSpPr/>
          <p:nvPr/>
        </p:nvSpPr>
        <p:spPr>
          <a:xfrm>
            <a:off x="7863840" y="3977640"/>
            <a:ext cx="457200" cy="45720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393192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¿Influye la ubicación del sitio de lanzamiento?</a:t>
            </a:r>
          </a:p>
        </p:txBody>
      </p:sp>
      <p:sp>
        <p:nvSpPr>
          <p:cNvPr id="21" name="Oval 20"/>
          <p:cNvSpPr/>
          <p:nvPr/>
        </p:nvSpPr>
        <p:spPr>
          <a:xfrm>
            <a:off x="7863840" y="4983480"/>
            <a:ext cx="457200" cy="45720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493776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¿Con qué exactitud podemos predecir el resultado?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2194560"/>
            <a:ext cx="1097280" cy="109728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52044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Metodología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4348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CBD5E1"/>
                </a:solidFill>
                <a:latin typeface="Calibri"/>
              </a:rPr>
              <a:t>Cómo se obtuvieron, prepararon y analizaron los datos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METHODOLOGY · 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Resumen de la metodología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alessandroxlc · SpaceX Falcon 9 · IBM Data Science Capstone   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1691640" cy="31089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074420" y="2377440"/>
            <a:ext cx="640080" cy="64008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B1220"/>
                </a:solidFill>
                <a:latin typeface="Calibri"/>
              </a:rPr>
              <a:t>Recolección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794760"/>
            <a:ext cx="1417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1E293B"/>
                </a:solidFill>
                <a:latin typeface="Calibri"/>
              </a:rPr>
              <a:t>API REST de SpaceX y web scraping de Wikipedia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267712.0" y="2697480"/>
            <a:ext cx="134051.0" cy="0"/>
          </a:xfrm>
          <a:prstGeom prst="line">
            <a:avLst/>
          </a:prstGeom>
          <a:ln w="25400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429195" y="2057400"/>
            <a:ext cx="1691640" cy="31089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2954975" y="2377440"/>
            <a:ext cx="640080" cy="64008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20635" y="3246120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B1220"/>
                </a:solidFill>
                <a:latin typeface="Calibri"/>
              </a:rPr>
              <a:t>Wrangling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6355" y="3794760"/>
            <a:ext cx="1417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1E293B"/>
                </a:solidFill>
                <a:latin typeface="Calibri"/>
              </a:rPr>
              <a:t>Limpieza, imputación de nulos y etiqueta Class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148267.0" y="2697480"/>
            <a:ext cx="134051.0" cy="0"/>
          </a:xfrm>
          <a:prstGeom prst="line">
            <a:avLst/>
          </a:prstGeom>
          <a:ln w="25400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309750" y="2057400"/>
            <a:ext cx="1691640" cy="31089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4835530" y="2377440"/>
            <a:ext cx="640080" cy="64008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1190" y="3246120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B1220"/>
                </a:solidFill>
                <a:latin typeface="Calibri"/>
              </a:rPr>
              <a:t>EDA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6910" y="3794760"/>
            <a:ext cx="1417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1E293B"/>
                </a:solidFill>
                <a:latin typeface="Calibri"/>
              </a:rPr>
              <a:t>Visualización (Seaborn) y consultas SQL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28822.0" y="2697480"/>
            <a:ext cx="134051.0" cy="0"/>
          </a:xfrm>
          <a:prstGeom prst="line">
            <a:avLst/>
          </a:prstGeom>
          <a:ln w="25400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90305" y="2057400"/>
            <a:ext cx="1691640" cy="31089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6716085" y="2377440"/>
            <a:ext cx="640080" cy="64008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1745" y="3246120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B1220"/>
                </a:solidFill>
                <a:latin typeface="Calibri"/>
              </a:rPr>
              <a:t>Mapas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7465" y="3794760"/>
            <a:ext cx="1417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1E293B"/>
                </a:solidFill>
                <a:latin typeface="Calibri"/>
              </a:rPr>
              <a:t>Análisis geoespacial con Folium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909377.0" y="2697480"/>
            <a:ext cx="134051.0" cy="0"/>
          </a:xfrm>
          <a:prstGeom prst="line">
            <a:avLst/>
          </a:prstGeom>
          <a:ln w="25400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070860" y="2057400"/>
            <a:ext cx="1691640" cy="31089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8596640" y="2377440"/>
            <a:ext cx="640080" cy="64008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2300" y="3246120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B1220"/>
                </a:solidFill>
                <a:latin typeface="Calibri"/>
              </a:rPr>
              <a:t>Dashboard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08020" y="3794760"/>
            <a:ext cx="1417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1E293B"/>
                </a:solidFill>
                <a:latin typeface="Calibri"/>
              </a:rPr>
              <a:t>Aplicación interactiva con Plotly Dash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789932.0" y="2697480"/>
            <a:ext cx="134051.0" cy="0"/>
          </a:xfrm>
          <a:prstGeom prst="line">
            <a:avLst/>
          </a:prstGeom>
          <a:ln w="25400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951415" y="2057400"/>
            <a:ext cx="1691640" cy="31089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10477195" y="2377440"/>
            <a:ext cx="640080" cy="64008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42855" y="3246120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B1220"/>
                </a:solidFill>
                <a:latin typeface="Calibri"/>
              </a:rPr>
              <a:t>Modelado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88575" y="3794760"/>
            <a:ext cx="1417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1E293B"/>
                </a:solidFill>
                <a:latin typeface="Calibri"/>
              </a:rPr>
              <a:t>4 clasificadores + GridSearchCV + evaluación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532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Herramientas: Python · pandas · NumPy · requests · BeautifulSoup · SQLite · Matplotlib · Seaborn · Folium · Plotly Dash · scikit-learn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METHODOLOGY · DATA COLLECTION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Recolección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alessandroxlc · SpaceX Falcon 9 · IBM Data Science Capstone  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08760"/>
            <a:ext cx="5394960" cy="31089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68680" y="1783080"/>
            <a:ext cx="566928" cy="566928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783080"/>
            <a:ext cx="4023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0B1220"/>
                </a:solidFill>
                <a:latin typeface="Calibri"/>
              </a:rPr>
              <a:t>SpaceX REST API v4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51760"/>
            <a:ext cx="47548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8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Endpoints: launches, rockets, launchpads, payloads y cores.</a:t>
            </a:r>
          </a:p>
          <a:p>
            <a:pPr marL="274320" indent="-274320">
              <a:spcAft>
                <a:spcPts val="8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Respuesta en JSON → pd.json_normalize.</a:t>
            </a:r>
          </a:p>
          <a:p>
            <a:pPr marL="274320" indent="-274320">
              <a:spcAft>
                <a:spcPts val="8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Resultado: data/dataset_part_1.csv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08760"/>
            <a:ext cx="5394960" cy="31089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6537960" y="1783080"/>
            <a:ext cx="566928" cy="566928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1783080"/>
            <a:ext cx="4023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0B1220"/>
                </a:solidFill>
                <a:latin typeface="Calibri"/>
              </a:rPr>
              <a:t>Web scraping (Wikipedia)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651760"/>
            <a:ext cx="47548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8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Página “List of Falcon 9 and Falcon Heavy launches”.</a:t>
            </a:r>
          </a:p>
          <a:p>
            <a:pPr marL="274320" indent="-274320">
              <a:spcAft>
                <a:spcPts val="8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requests + BeautifulSoup sobre las tablas HTML.</a:t>
            </a:r>
          </a:p>
          <a:p>
            <a:pPr marL="274320" indent="-274320">
              <a:spcAft>
                <a:spcPts val="8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Resultado: data/spacex_web_scraped.csv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89204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Ambas fuentes se unifican en un dataset de un lanzamiento por fila, con variables de la misión (fecha, booster, carga, órbita, sitio) y el resultado del aterrizaje.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METHODOLOGY · DATA COLLECTION – SPACEX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Recopilación de datos: API de SpaceX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alessandroxlc · SpaceX Falcon 9 · IBM Data Science Capstone   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3200400" cy="13258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77240" y="205740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645920"/>
            <a:ext cx="219456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GET /launches/past</a:t>
            </a:r>
          </a:p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(copia estática del curso)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94760.0" y="2308860"/>
            <a:ext cx="655167.5" cy="0"/>
          </a:xfrm>
          <a:prstGeom prst="line">
            <a:avLst/>
          </a:prstGeom>
          <a:ln w="25400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495647" y="1645920"/>
            <a:ext cx="3200400" cy="13258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724247" y="205740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64327" y="1645920"/>
            <a:ext cx="219456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pd.json_normalize()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41767.5" y="2308860"/>
            <a:ext cx="655167.5" cy="0"/>
          </a:xfrm>
          <a:prstGeom prst="line">
            <a:avLst/>
          </a:prstGeom>
          <a:ln w="25400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442655" y="1645920"/>
            <a:ext cx="3200400" cy="13258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8671255" y="205740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11335" y="1645920"/>
            <a:ext cx="219456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Filtrar 1 núcleo, 1 carga</a:t>
            </a:r>
          </a:p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y fecha ≤ 13-11-2020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42855.0" y="3017520"/>
            <a:ext cx="0.0" cy="640080"/>
          </a:xfrm>
          <a:prstGeom prst="line">
            <a:avLst/>
          </a:prstGeom>
          <a:ln w="25400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442655" y="3703320"/>
            <a:ext cx="3200400" cy="13258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8671255" y="411480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11335" y="3703320"/>
            <a:ext cx="219456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Resolver IDs en /rockets,</a:t>
            </a:r>
          </a:p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/launchpads, /payloads, /cores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741767.5" y="4366260"/>
            <a:ext cx="655167.5" cy="0"/>
          </a:xfrm>
          <a:prstGeom prst="line">
            <a:avLst/>
          </a:prstGeom>
          <a:ln w="25400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495647" y="3703320"/>
            <a:ext cx="3200400" cy="13258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4724247" y="411480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64327" y="3703320"/>
            <a:ext cx="219456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Filtrar Falcon 9 e</a:t>
            </a:r>
          </a:p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imputar PayloadMass (media)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3794760.0" y="4366260"/>
            <a:ext cx="655167.5" cy="0"/>
          </a:xfrm>
          <a:prstGeom prst="line">
            <a:avLst/>
          </a:prstGeom>
          <a:ln w="25400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48640" y="3703320"/>
            <a:ext cx="3200400" cy="132588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777240" y="411480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17320" y="3703320"/>
            <a:ext cx="219456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dataset_part_1.csv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85216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26B1D"/>
                </a:solidFill>
                <a:latin typeface="Calibri"/>
                <a:hlinkClick r:id="rId3"/>
              </a:rPr>
              <a:t>GitHub: https://github.com/alessandroxlc/spacex-falcon9-capstone/blob/main/notebooks/01_data_collection_api.ipynb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METHODOLOGY · DATA COLLECTION – SCRAPING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Recopilación de datos: web scraping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alessandroxlc · SpaceX Falcon 9 · IBM Data Science Capstone   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3200400" cy="13258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77240" y="205740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645920"/>
            <a:ext cx="219456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requests.get(URL de Wikipedia</a:t>
            </a:r>
          </a:p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oldid=1027686922)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94760.0" y="2308860"/>
            <a:ext cx="655167.5" cy="0"/>
          </a:xfrm>
          <a:prstGeom prst="line">
            <a:avLst/>
          </a:prstGeom>
          <a:ln w="25400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495647" y="1645920"/>
            <a:ext cx="3200400" cy="13258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724247" y="205740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64327" y="1645920"/>
            <a:ext cx="219456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BeautifulSoup(html)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41767.5" y="2308860"/>
            <a:ext cx="655167.5" cy="0"/>
          </a:xfrm>
          <a:prstGeom prst="line">
            <a:avLst/>
          </a:prstGeom>
          <a:ln w="25400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442655" y="1645920"/>
            <a:ext cx="3200400" cy="13258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8671255" y="205740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11335" y="1645920"/>
            <a:ext cx="219456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find_all('table',</a:t>
            </a:r>
          </a:p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'wikitable plainrowheaders')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42855.0" y="3017520"/>
            <a:ext cx="0.0" cy="640080"/>
          </a:xfrm>
          <a:prstGeom prst="line">
            <a:avLst/>
          </a:prstGeom>
          <a:ln w="25400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442655" y="3703320"/>
            <a:ext cx="3200400" cy="13258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8671255" y="411480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11335" y="3703320"/>
            <a:ext cx="219456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Extraer nombres de</a:t>
            </a:r>
          </a:p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columna (&lt;th&gt;)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741767.5" y="4366260"/>
            <a:ext cx="655167.5" cy="0"/>
          </a:xfrm>
          <a:prstGeom prst="line">
            <a:avLst/>
          </a:prstGeom>
          <a:ln w="25400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495647" y="3703320"/>
            <a:ext cx="3200400" cy="13258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4724247" y="411480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64327" y="3703320"/>
            <a:ext cx="219456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Recorrer filas y limpiar</a:t>
            </a:r>
          </a:p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celdas (fecha, booster, masa…)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3794760.0" y="4366260"/>
            <a:ext cx="655167.5" cy="0"/>
          </a:xfrm>
          <a:prstGeom prst="line">
            <a:avLst/>
          </a:prstGeom>
          <a:ln w="25400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48640" y="3703320"/>
            <a:ext cx="3200400" cy="132588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777240" y="411480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17320" y="3703320"/>
            <a:ext cx="219456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spacex_web_scraped.csv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85216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26B1D"/>
                </a:solidFill>
                <a:latin typeface="Calibri"/>
                <a:hlinkClick r:id="rId3"/>
              </a:rPr>
              <a:t>GitHub: https://github.com/alessandroxlc/spacex-falcon9-capstone/blob/main/notebooks/02_data_collection_webscraping.ipynb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METHODOLOGY · DATA WRANGLING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Metodología de limpieza de datos (data wrangling)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alessandroxlc · SpaceX Falcon 9 · IBM Data Science Capstone  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512064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1">
                <a:solidFill>
                  <a:srgbClr val="1E293B"/>
                </a:solidFill>
                <a:latin typeface="Calibri"/>
              </a:rPr>
              <a:t>Exploración: </a:t>
            </a:r>
            <a:r>
              <a:rPr sz="1600" b="0">
                <a:solidFill>
                  <a:srgbClr val="1E293B"/>
                </a:solidFill>
                <a:latin typeface="Calibri"/>
              </a:rPr>
              <a:t>porcentaje de nulos, tipos de dato y recuentos por sitio y órbita.</a:t>
            </a:r>
          </a:p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1">
                <a:solidFill>
                  <a:srgbClr val="1E293B"/>
                </a:solidFill>
                <a:latin typeface="Calibri"/>
              </a:rPr>
              <a:t>Nulos: </a:t>
            </a:r>
            <a:r>
              <a:rPr sz="1600" b="0">
                <a:solidFill>
                  <a:srgbClr val="1E293B"/>
                </a:solidFill>
                <a:latin typeface="Calibri"/>
              </a:rPr>
              <a:t>PayloadMass se imputa con la media; LandingPad se conserva (nulo = sin plataforma).</a:t>
            </a:r>
          </a:p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1">
                <a:solidFill>
                  <a:srgbClr val="1E293B"/>
                </a:solidFill>
                <a:latin typeface="Calibri"/>
              </a:rPr>
              <a:t>Etiqueta: </a:t>
            </a:r>
            <a:r>
              <a:rPr sz="1600" b="0">
                <a:solidFill>
                  <a:srgbClr val="1E293B"/>
                </a:solidFill>
                <a:latin typeface="Calibri"/>
              </a:rPr>
              <a:t>Class = 1 si Outcome empieza por “True”; 0 en cualquier otro caso.</a:t>
            </a:r>
          </a:p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1">
                <a:solidFill>
                  <a:srgbClr val="1E293B"/>
                </a:solidFill>
                <a:latin typeface="Calibri"/>
              </a:rPr>
              <a:t>Salida: </a:t>
            </a:r>
            <a:r>
              <a:rPr sz="1600" b="0">
                <a:solidFill>
                  <a:srgbClr val="1E293B"/>
                </a:solidFill>
                <a:latin typeface="Calibri"/>
              </a:rPr>
              <a:t>data/dataset_part_2.csv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5216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26B1D"/>
                </a:solidFill>
                <a:latin typeface="Calibri"/>
                <a:hlinkClick r:id="rId3"/>
              </a:rPr>
              <a:t>GitHub: https://github.com/alessandroxlc/spacex-falcon9-capstone/blob/main/notebooks/03_data_wrangling.ipynb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35040" y="1325880"/>
          <a:ext cx="5605270" cy="3657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88967"/>
                <a:gridCol w="2893043"/>
                <a:gridCol w="7232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Outcome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Significado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True ASDS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Aterrizó en barcaza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True RTLS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Aterrizó en tierra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True Ocean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Descenso controlado al océano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False ASDS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Falló en barcaza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False RTLS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Falló en tierra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False Ocean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Falló sobre el océano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None None / None ASDS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Sin intento de aterrizaje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METHODOLOGY · EDA WITH DATA VISUALIZATION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EDA con visualización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alessandroxlc · SpaceX Falcon 9 · IBM Data Science Capstone   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11094413" cy="371246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06067"/>
                <a:gridCol w="3354125"/>
                <a:gridCol w="5934221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Gráfico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Variables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Pregunta que responde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93B"/>
                          </a:solidFill>
                          <a:latin typeface="Calibri"/>
                        </a:rPr>
                        <a:t>Dispersión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93B"/>
                          </a:solidFill>
                          <a:latin typeface="Calibri"/>
                        </a:rPr>
                        <a:t>N.º de vuelo vs. sitio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93B"/>
                          </a:solidFill>
                          <a:latin typeface="Calibri"/>
                        </a:rPr>
                        <a:t>¿Mejora el éxito con la experiencia en cada sitio?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93B"/>
                          </a:solidFill>
                          <a:latin typeface="Calibri"/>
                        </a:rPr>
                        <a:t>Dispersión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93B"/>
                          </a:solidFill>
                          <a:latin typeface="Calibri"/>
                        </a:rPr>
                        <a:t>Carga útil vs. sitio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93B"/>
                          </a:solidFill>
                          <a:latin typeface="Calibri"/>
                        </a:rPr>
                        <a:t>¿Hay sitios para cargas pesadas?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93B"/>
                          </a:solidFill>
                          <a:latin typeface="Calibri"/>
                        </a:rPr>
                        <a:t>Barras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93B"/>
                          </a:solidFill>
                          <a:latin typeface="Calibri"/>
                        </a:rPr>
                        <a:t>Tasa de éxito por órbita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93B"/>
                          </a:solidFill>
                          <a:latin typeface="Calibri"/>
                        </a:rPr>
                        <a:t>¿Qué órbitas son más fáciles?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93B"/>
                          </a:solidFill>
                          <a:latin typeface="Calibri"/>
                        </a:rPr>
                        <a:t>Dispersión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93B"/>
                          </a:solidFill>
                          <a:latin typeface="Calibri"/>
                        </a:rPr>
                        <a:t>N.º de vuelo vs. órbita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93B"/>
                          </a:solidFill>
                          <a:latin typeface="Calibri"/>
                        </a:rPr>
                        <a:t>¿Cambia la relación con la experiencia según la órbita?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93B"/>
                          </a:solidFill>
                          <a:latin typeface="Calibri"/>
                        </a:rPr>
                        <a:t>Dispersión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93B"/>
                          </a:solidFill>
                          <a:latin typeface="Calibri"/>
                        </a:rPr>
                        <a:t>Carga útil vs. órbita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93B"/>
                          </a:solidFill>
                          <a:latin typeface="Calibri"/>
                        </a:rPr>
                        <a:t>¿Influye la masa según la órbita?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93B"/>
                          </a:solidFill>
                          <a:latin typeface="Calibri"/>
                        </a:rPr>
                        <a:t>Línea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93B"/>
                          </a:solidFill>
                          <a:latin typeface="Calibri"/>
                        </a:rPr>
                        <a:t>Tasa de éxito por año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93B"/>
                          </a:solidFill>
                          <a:latin typeface="Calibri"/>
                        </a:rPr>
                        <a:t>¿Cuál es la tendencia en el tiempo?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25780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Después se aplica One-Hot Encoding a Orbit, LaunchSite, LandingPad y Serial → dataset_part_3.csv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5216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26B1D"/>
                </a:solidFill>
                <a:latin typeface="Calibri"/>
                <a:hlinkClick r:id="rId3"/>
              </a:rPr>
              <a:t>GitHub: https://github.com/alessandroxlc/spacex-falcon9-capstone/blob/main/notebooks/05_eda_visualization.ipynb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METHODOLOGY · EDA WITH SQL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EDA con 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alessandroxlc · SpaceX Falcon 9 · IBM Data Science Capstone   12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417320"/>
            <a:ext cx="457200" cy="45720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417320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Sitios de lanzamiento únicos (DISTINCT)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21992"/>
            <a:ext cx="457200" cy="45720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221992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5 registros de sitios que empiezan por 'CCA' (LIKE)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026664"/>
            <a:ext cx="457200" cy="45720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026664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Masa total para NASA (CRS) (SUM)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831336"/>
            <a:ext cx="457200" cy="45720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831336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Masa media del booster F9 v1.1 (AVG)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636008"/>
            <a:ext cx="457200" cy="45720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636008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Primer aterrizaje exitoso en tierra (MIN)</a:t>
            </a:r>
          </a:p>
        </p:txBody>
      </p:sp>
      <p:sp>
        <p:nvSpPr>
          <p:cNvPr id="15" name="Oval 14"/>
          <p:cNvSpPr/>
          <p:nvPr/>
        </p:nvSpPr>
        <p:spPr>
          <a:xfrm>
            <a:off x="6172200" y="1417320"/>
            <a:ext cx="457200" cy="45720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1417320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Éxito en barcaza con carga 4.000–6.000 kg</a:t>
            </a:r>
          </a:p>
        </p:txBody>
      </p:sp>
      <p:sp>
        <p:nvSpPr>
          <p:cNvPr id="17" name="Oval 16"/>
          <p:cNvSpPr/>
          <p:nvPr/>
        </p:nvSpPr>
        <p:spPr>
          <a:xfrm>
            <a:off x="6172200" y="2221992"/>
            <a:ext cx="457200" cy="45720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2221992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Misiones exitosas y fallidas (GROUP BY)</a:t>
            </a:r>
          </a:p>
        </p:txBody>
      </p:sp>
      <p:sp>
        <p:nvSpPr>
          <p:cNvPr id="19" name="Oval 18"/>
          <p:cNvSpPr/>
          <p:nvPr/>
        </p:nvSpPr>
        <p:spPr>
          <a:xfrm>
            <a:off x="6172200" y="3026664"/>
            <a:ext cx="457200" cy="45720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3026664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Boosters con la carga máxima (subconsulta)</a:t>
            </a:r>
          </a:p>
        </p:txBody>
      </p:sp>
      <p:sp>
        <p:nvSpPr>
          <p:cNvPr id="21" name="Oval 20"/>
          <p:cNvSpPr/>
          <p:nvPr/>
        </p:nvSpPr>
        <p:spPr>
          <a:xfrm>
            <a:off x="6172200" y="3831336"/>
            <a:ext cx="457200" cy="45720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3831336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Fallos en barcaza en 2015 (substr)</a:t>
            </a:r>
          </a:p>
        </p:txBody>
      </p:sp>
      <p:sp>
        <p:nvSpPr>
          <p:cNvPr id="23" name="Oval 22"/>
          <p:cNvSpPr/>
          <p:nvPr/>
        </p:nvSpPr>
        <p:spPr>
          <a:xfrm>
            <a:off x="6172200" y="4636008"/>
            <a:ext cx="457200" cy="45720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4636008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Ranking de aterrizajes 2010–2017 (ORDER BY)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85216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26B1D"/>
                </a:solidFill>
                <a:latin typeface="Calibri"/>
                <a:hlinkClick r:id="rId3"/>
              </a:rPr>
              <a:t>GitHub: https://github.com/alessandroxlc/spacex-falcon9-capstone/blob/main/notebooks/04_eda_sql.ipynb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METHODOLOGY · INTERACTIVE VISUAL ANALYTICS (FOLIUM)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Análisis visual interactivo: mapa con Folium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alessandroxlc · SpaceX Falcon 9 · IBM Data Science Capstone   13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41732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3716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B1220"/>
                </a:solidFill>
                <a:latin typeface="Calibri"/>
              </a:rPr>
              <a:t>Círculos y etiquetas (folium.Circle, DivIcon)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76479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Ubicar los 4 sitios y ver su cercanía al ecuador y a la costa.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42316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3774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B1220"/>
                </a:solidFill>
                <a:latin typeface="Calibri"/>
              </a:rPr>
              <a:t>MarkerCluster verde / rojo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77063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Ver qué sitios acumulan más aterrizajes exitosos.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2900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383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B1220"/>
                </a:solidFill>
                <a:latin typeface="Calibri"/>
              </a:rPr>
              <a:t>MousePosition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77647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Leer coordenadas de puntos cercanos directamente en el mapa.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3891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B1220"/>
                </a:solidFill>
                <a:latin typeface="Calibri"/>
              </a:rPr>
              <a:t>PolyLine + distancia haversine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7823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Medir la distancia a la costa, al ferrocarril, a la autopista y a la ciudad.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5321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26B1D"/>
                </a:solidFill>
                <a:latin typeface="Calibri"/>
                <a:hlinkClick r:id="rId3"/>
              </a:rPr>
              <a:t>GitHub: https://github.com/alessandroxlc/spacex-falcon9-capstone/blob/main/notebooks/06_interactive_map_folium.ipynb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85216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26B1D"/>
                </a:solidFill>
                <a:latin typeface="Calibri"/>
                <a:hlinkClick r:id="rId4"/>
              </a:rPr>
              <a:t>GitHub: https://github.com/alessandroxlc/spacex-falcon9-capstone/blob/main/dashboard/spacex_dash_app.py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METHODOLOGY · INTERACTIVE VISUAL ANALYTICS (PLOTLY DASH)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Análisis visual interactivo: dashboard con Plotly Dash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alessandroxlc · SpaceX Falcon 9 · IBM Data Science Capstone   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22960" y="169164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91640"/>
            <a:ext cx="4206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B1220"/>
                </a:solidFill>
                <a:latin typeface="Calibri"/>
              </a:rPr>
              <a:t>Desplegable de sitios (dcc.Dropdown)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28600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Filtrar todos los sitios o uno concreto.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29000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822960" y="370332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03320"/>
            <a:ext cx="4206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B1220"/>
                </a:solidFill>
                <a:latin typeface="Calibri"/>
              </a:rPr>
              <a:t>Gráfico de pastel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429768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Todos: cuota de éxitos por sitio. Un sitio: éxito vs. fallo.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417320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6446520" y="169164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1691640"/>
            <a:ext cx="4206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B1220"/>
                </a:solidFill>
                <a:latin typeface="Calibri"/>
              </a:rPr>
              <a:t>Control de rango (dcc.RangeSlider)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228600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Elegir el rango de masa de carga útil (0–10.000 kg).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429000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446520" y="370332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3703320"/>
            <a:ext cx="4206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B1220"/>
                </a:solidFill>
                <a:latin typeface="Calibri"/>
              </a:rPr>
              <a:t>Dispersión carga vs. resultado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429768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Ver la relación masa–éxito, coloreada por versión del booster.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5321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26B1D"/>
                </a:solidFill>
                <a:latin typeface="Calibri"/>
                <a:hlinkClick r:id="rId3"/>
              </a:rPr>
              <a:t>GitHub: https://github.com/alessandroxlc/spacex-falcon9-capstone/blob/main/notebooks/06_interactive_map_folium.ipynb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85216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26B1D"/>
                </a:solidFill>
                <a:latin typeface="Calibri"/>
                <a:hlinkClick r:id="rId4"/>
              </a:rPr>
              <a:t>GitHub: https://github.com/alessandroxlc/spacex-falcon9-capstone/blob/main/dashboard/spacex_dash_app.py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METHODOLOGY · PREDICTIVE ANALYSIS (CLASSIFICATION)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Análisis predictivo (clasificación)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alessandroxlc · SpaceX Falcon 9 · IBM Data Science Capstone   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3200400" cy="13258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77240" y="205740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645920"/>
            <a:ext cx="219456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Cargar X (one-hot)</a:t>
            </a:r>
          </a:p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y Y = Class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94760.0" y="2308860"/>
            <a:ext cx="655167.5" cy="0"/>
          </a:xfrm>
          <a:prstGeom prst="line">
            <a:avLst/>
          </a:prstGeom>
          <a:ln w="25400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495647" y="1645920"/>
            <a:ext cx="3200400" cy="13258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724247" y="205740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64327" y="1645920"/>
            <a:ext cx="219456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StandardScaler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41767.5" y="2308860"/>
            <a:ext cx="655167.5" cy="0"/>
          </a:xfrm>
          <a:prstGeom prst="line">
            <a:avLst/>
          </a:prstGeom>
          <a:ln w="25400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442655" y="1645920"/>
            <a:ext cx="3200400" cy="13258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8671255" y="205740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11335" y="1645920"/>
            <a:ext cx="219456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train_test_split</a:t>
            </a:r>
          </a:p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80/20, random_state=2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42855.0" y="3017520"/>
            <a:ext cx="0.0" cy="640080"/>
          </a:xfrm>
          <a:prstGeom prst="line">
            <a:avLst/>
          </a:prstGeom>
          <a:ln w="25400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442655" y="3703320"/>
            <a:ext cx="3200400" cy="13258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8671255" y="411480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11335" y="3703320"/>
            <a:ext cx="219456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GridSearchCV (cv=10)</a:t>
            </a:r>
          </a:p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LogReg · SVM · Árbol · KNN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741767.5" y="4366260"/>
            <a:ext cx="655167.5" cy="0"/>
          </a:xfrm>
          <a:prstGeom prst="line">
            <a:avLst/>
          </a:prstGeom>
          <a:ln w="25400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495647" y="3703320"/>
            <a:ext cx="3200400" cy="13258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4724247" y="411480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64327" y="3703320"/>
            <a:ext cx="219456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Exactitud en prueba</a:t>
            </a:r>
          </a:p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y matriz de confusión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3794760.0" y="4366260"/>
            <a:ext cx="655167.5" cy="0"/>
          </a:xfrm>
          <a:prstGeom prst="line">
            <a:avLst/>
          </a:prstGeom>
          <a:ln w="25400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48640" y="3703320"/>
            <a:ext cx="3200400" cy="132588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777240" y="411480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17320" y="3703320"/>
            <a:ext cx="219456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Elegir el mejor</a:t>
            </a:r>
          </a:p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modelo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85216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26B1D"/>
                </a:solidFill>
                <a:latin typeface="Calibri"/>
                <a:hlinkClick r:id="rId3"/>
              </a:rPr>
              <a:t>GitHub: https://github.com/alessandroxlc/spacex-falcon9-capstone/blob/main/notebooks/07_machine_learning_prediction.ipynb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27648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Fuente: valores de referencia del laboratorio IBM (ejecuta el notebook 07 para regenerarlos)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alessandroxlc · SpaceX Falcon 9 · IBM Data Science Capstone   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3502152" cy="44805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68680" y="16459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B1220"/>
                </a:solidFill>
                <a:latin typeface="Calibri"/>
              </a:rPr>
              <a:t>EDA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29260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12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La tasa de éxito crece con el número de vuelo y con los años.</a:t>
            </a:r>
          </a:p>
          <a:p>
            <a:pPr marL="274320" indent="-274320">
              <a:spcAft>
                <a:spcPts val="12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Algunas órbitas (SSO, HEO, GEO, ES-L1) tienen 100 % de éxito con pocos vuelos; GTO ronda el 50 %.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1325880"/>
            <a:ext cx="3502152" cy="44805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617719" y="16459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B1220"/>
                </a:solidFill>
                <a:latin typeface="Calibri"/>
              </a:rPr>
              <a:t>Analítica interactiva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19" y="2331720"/>
            <a:ext cx="29260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12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Todos los sitios están junto a la costa y cerca de infraestructura de transporte.</a:t>
            </a:r>
          </a:p>
          <a:p>
            <a:pPr marL="274320" indent="-274320">
              <a:spcAft>
                <a:spcPts val="12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El dashboard compara sitios y rangos de carga en segundos.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8" y="1325880"/>
            <a:ext cx="3502152" cy="448056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366758" y="16459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26B1D"/>
                </a:solidFill>
                <a:latin typeface="Calibri"/>
              </a:rPr>
              <a:t>Análisis predictivo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58" y="2331720"/>
            <a:ext cx="29260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12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FFFFFF"/>
                </a:solidFill>
                <a:latin typeface="Calibri"/>
              </a:rPr>
              <a:t>Exactitud en prueba de 83,33 % en 18 lanzamientos.</a:t>
            </a:r>
          </a:p>
          <a:p>
            <a:pPr marL="274320" indent="-274320">
              <a:spcAft>
                <a:spcPts val="12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FFFFFF"/>
                </a:solidFill>
                <a:latin typeface="Calibri"/>
              </a:rPr>
              <a:t>Mejor modelo: Árbol de decisión (desempate por validación cruzada).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2194560"/>
            <a:ext cx="1097280" cy="109728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52044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Hallazgos del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4348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CBD5E1"/>
                </a:solidFill>
                <a:latin typeface="Calibri"/>
              </a:rPr>
              <a:t>Visualización de datos y consultas SQL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EDA RESULTS · FLIGHT NUMBER VS. LAUNCH SITE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Número de vuelo vs. sitio de lanzamiento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alessandroxlc · SpaceX Falcon 9 · IBM Data Science Capstone   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7498079" cy="47548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5875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1325880"/>
            <a:ext cx="6766559" cy="4754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Figura pendiente</a:t>
            </a:r>
          </a:p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Se genera al ejecutar notebooks/05_eda_visualization.ipynb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600200"/>
            <a:ext cx="32004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Los primeros vuelos, casi todos fallidos, salieron de CCAFS SLC-40.</a:t>
            </a:r>
          </a:p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En todos los sitios, los vuelos más recientes aterrizan con más frecuencia.</a:t>
            </a:r>
          </a:p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La experiencia acumulada mejora el resultado.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EDA RESULTS · PAYLOAD VS. LAUNCH SITE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Carga útil vs. sitio de lanzamiento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alessandroxlc · SpaceX Falcon 9 · IBM Data Science Capstone   19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7498079" cy="47548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5875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1325880"/>
            <a:ext cx="6766559" cy="4754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Figura pendiente</a:t>
            </a:r>
          </a:p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Se genera al ejecutar notebooks/05_eda_visualization.ipynb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600200"/>
            <a:ext cx="32004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VAFB SLC-4E no lanza cargas muy pesadas (&gt; 10.000 kg).</a:t>
            </a:r>
          </a:p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Las cargas pesadas salen de Florida y suelen aterrizar con éxito.</a:t>
            </a:r>
          </a:p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Por debajo de ~7.000 kg se mezclan éxitos y fallos.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EDA RESULTS · SUCCESS RATE VS. ORBIT 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Tasa de éxito por tipo de órbita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alessandroxlc · SpaceX Falcon 9 · IBM Data Science Capstone   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7498079" cy="47548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5875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1325880"/>
            <a:ext cx="6766559" cy="4754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Figura pendiente</a:t>
            </a:r>
          </a:p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Se genera al ejecutar notebooks/05_eda_visualization.ipynb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600200"/>
            <a:ext cx="32004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Compara la proporción de aterrizajes exitosos por órbita.</a:t>
            </a:r>
          </a:p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Se completa automáticamente con results/eda.json.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EDA RESULTS · FLIGHT NUMBER VS. ORBIT 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Número de vuelo vs. tipo de órbita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alessandroxlc · SpaceX Falcon 9 · IBM Data Science Capstone   21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7498079" cy="47548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5875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1325880"/>
            <a:ext cx="6766559" cy="4754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Figura pendiente</a:t>
            </a:r>
          </a:p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Se genera al ejecutar notebooks/05_eda_visualization.ipynb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600200"/>
            <a:ext cx="32004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En LEO, el éxito parece aumentar con el número de vuelo.</a:t>
            </a:r>
          </a:p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En GTO no se aprecia relación entre experiencia y éxito.</a:t>
            </a:r>
          </a:p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Las órbitas nuevas (VLEO) aparecen en los vuelos más recientes.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EDA RESULTS · PAYLOAD VS. ORBIT 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Carga útil vs. tipo de órbita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alessandroxlc · SpaceX Falcon 9 · IBM Data Science Capstone   22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7498079" cy="47548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5875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1325880"/>
            <a:ext cx="6766559" cy="4754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Figura pendiente</a:t>
            </a:r>
          </a:p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Se genera al ejecutar notebooks/05_eda_visualization.ipynb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600200"/>
            <a:ext cx="32004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Con cargas pesadas, los aterrizajes exitosos predominan en Polar, LEO e ISS.</a:t>
            </a:r>
          </a:p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En GTO se mezclan éxitos y fallos en todo el rango de masa.</a:t>
            </a:r>
          </a:p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VLEO concentra cargas pesadas (constelación Starlink).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EDA RESULTS · LAUNCH SUCCESS YEARLY TREND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Tendencia anual de la tasa de éxito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alessandroxlc · SpaceX Falcon 9 · IBM Data Science Capstone   23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7498079" cy="47548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5875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1325880"/>
            <a:ext cx="6766559" cy="4754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Figura pendiente</a:t>
            </a:r>
          </a:p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Se genera al ejecutar notebooks/05_eda_visualization.ipynb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600200"/>
            <a:ext cx="32004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Evolución de la tasa de éxito por año.</a:t>
            </a:r>
          </a:p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Se completa automáticamente con results/eda.json.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EDA WITH SQL RESULTS · QUERY 1/10 · ALL LAUNCH SITE NAMES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Sitios de lanzamiento únicos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27648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Fuente: valores de referencia del laboratorio IBM (ejecuta el notebook 04 para regenerarlos)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alessandroxlc · SpaceX Falcon 9 · IBM Data Science Capstone   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4663440" cy="3566160"/>
          </a:xfrm>
          <a:prstGeom prst="roundRect">
            <a:avLst>
              <a:gd name="adj" fmla="val 4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60" y="1947672"/>
            <a:ext cx="41148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SELECT DISTINCT Launch_Site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FROM SPACEXTABLE;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577840" y="1691640"/>
          <a:ext cx="6065215" cy="19202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65215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Launch_Site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CCAFS LC-40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VAFB SLC-4E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KSC LC-39A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CCAFS SLC-40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349240"/>
            <a:ext cx="4663440" cy="868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20" y="534924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E293B"/>
                </a:solidFill>
                <a:latin typeface="Calibri"/>
              </a:rPr>
              <a:t>Hay 4 sitios: dos en Cabo Cañaveral (CCAFS LC-40 y SLC-40), uno en Kennedy (KSC LC-39A) y uno en Vandenberg (VAFB SLC-4E).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EDA WITH SQL RESULTS · QUERY 2/10 · LAUNCH SITE NAMES BEGIN WITH 'CCA'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Sitios que empiezan por 'CCA'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27648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Fuente: valores de referencia del laboratorio IBM (ejecuta el notebook 04 para regenerarlos)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alessandroxlc · SpaceX Falcon 9 · IBM Data Science Capstone   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4663440" cy="3566160"/>
          </a:xfrm>
          <a:prstGeom prst="roundRect">
            <a:avLst>
              <a:gd name="adj" fmla="val 4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60" y="1947672"/>
            <a:ext cx="41148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SELECT Date, Booster_Version, Launch_Site,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       Payload, PAYLOAD_MASS__KG_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FROM SPACEXTABLE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WHERE Launch_Site LIKE 'CCA%'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LIMIT 5;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577840" y="1691640"/>
          <a:ext cx="6065213" cy="230428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38443"/>
                <a:gridCol w="1085354"/>
                <a:gridCol w="829976"/>
                <a:gridCol w="2298397"/>
                <a:gridCol w="1213043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Booster_Version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Launch_Site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Payload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PAYLOAD_MASS__KG_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2010-06-04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F9 v1.0 B0003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CCAFS LC-40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Dragon Spacecraft Qualification Unit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2010-12-08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F9 v1.0 B0004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CCAFS LC-40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Dragon demo flight C1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2012-05-22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F9 v1.0 B0005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CCAFS LC-40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Dragon demo flight C2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525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2012-10-08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F9 v1.0 B0006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CCAFS LC-40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SpaceX CRS-1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2013-03-01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F9 v1.0 B0007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CCAFS LC-40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SpaceX CRS-2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677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349240"/>
            <a:ext cx="4663440" cy="868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20" y="534924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E293B"/>
                </a:solidFill>
                <a:latin typeface="Calibri"/>
              </a:rPr>
              <a:t>Los primeros lanzamientos desde Cabo Cañaveral llevaban cápsulas Dragon de prueba y misiones CRS para la NASA.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EDA WITH SQL RESULTS · QUERY 3/10 · TOTAL PAYLOAD MASS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Masa total de carga NASA (CRS)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27648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Fuente: valores de referencia del laboratorio IBM (ejecuta el notebook 04 para regenerarlos)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alessandroxlc · SpaceX Falcon 9 · IBM Data Science Capstone   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4663440" cy="3566160"/>
          </a:xfrm>
          <a:prstGeom prst="roundRect">
            <a:avLst>
              <a:gd name="adj" fmla="val 4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60" y="1947672"/>
            <a:ext cx="41148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SELECT SUM(PAYLOAD_MASS__KG_)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FROM SPACEXTABLE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WHERE Customer = 'NASA (CRS)';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577840" y="1691640"/>
          <a:ext cx="6065215" cy="7680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65215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Total_Payload_Mass_kg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45596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349240"/>
            <a:ext cx="4663440" cy="868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20" y="534924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E293B"/>
                </a:solidFill>
                <a:latin typeface="Calibri"/>
              </a:rPr>
              <a:t>Masa total transportada para el programa de reabastecimiento de la NASA (CRS).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EDA WITH SQL RESULTS · QUERY 4/10 · AVERAGE PAYLOAD MASS BY F9 V1.1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Masa media de carga F9 v1.1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27648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Fuente: valores de referencia del laboratorio IBM (ejecuta el notebook 04 para regenerarlos)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alessandroxlc · SpaceX Falcon 9 · IBM Data Science Capstone   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4663440" cy="3566160"/>
          </a:xfrm>
          <a:prstGeom prst="roundRect">
            <a:avLst>
              <a:gd name="adj" fmla="val 4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60" y="1947672"/>
            <a:ext cx="41148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SELECT AVG(PAYLOAD_MASS__KG_)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FROM SPACEXTABLE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WHERE Booster_Version = 'F9 v1.1';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577840" y="1691640"/>
          <a:ext cx="6065215" cy="7680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65215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Avg_Payload_Mass_kg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2928.4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349240"/>
            <a:ext cx="4663440" cy="868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20" y="534924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E293B"/>
                </a:solidFill>
                <a:latin typeface="Calibri"/>
              </a:rPr>
              <a:t>Masa media que transportaba la versión F9 v1.1 del booster.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EDA WITH SQL RESULTS · QUERY 5/10 · FIRST SUCCESSFUL GROUND LANDING 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Primer aterrizaje exitoso en tierra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27648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Fuente: valores de referencia del laboratorio IBM (ejecuta el notebook 04 para regenerarlos)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alessandroxlc · SpaceX Falcon 9 · IBM Data Science Capstone   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4663440" cy="3566160"/>
          </a:xfrm>
          <a:prstGeom prst="roundRect">
            <a:avLst>
              <a:gd name="adj" fmla="val 4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60" y="1947672"/>
            <a:ext cx="41148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SELECT MIN(Date)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FROM SPACEXTABLE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WHERE Landing_Outcome =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      'Success (ground pad)';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577840" y="1691640"/>
          <a:ext cx="6065215" cy="7680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65215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First_Successful_Ground_Landing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2015-12-22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349240"/>
            <a:ext cx="4663440" cy="868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20" y="534924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E293B"/>
                </a:solidFill>
                <a:latin typeface="Calibri"/>
              </a:rPr>
              <a:t>El primer aterrizaje exitoso en tierra llegó más de cinco años después del primer lanzamiento.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EDA WITH SQL RESULTS · QUERY 6/10 · SUCCESSFUL DRONE SHIP LANDING WITH PAYLOAD BETWEEN 4000 AND 6000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Éxito en barcaza con carga 4.000–6.000 kg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27648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Fuente: valores de referencia del laboratorio IBM (ejecuta el notebook 04 para regenerarlos)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alessandroxlc · SpaceX Falcon 9 · IBM Data Science Capstone   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4663440" cy="3566160"/>
          </a:xfrm>
          <a:prstGeom prst="roundRect">
            <a:avLst>
              <a:gd name="adj" fmla="val 4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60" y="1947672"/>
            <a:ext cx="41148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SELECT Booster_Version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FROM SPACEXTABLE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WHERE Landing_Outcome =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      'Success (drone ship)'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  AND PAYLOAD_MASS__KG_ &gt; 4000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  AND PAYLOAD_MASS__KG_ &lt; 6000;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577840" y="1691640"/>
          <a:ext cx="6065215" cy="19202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65215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Booster_Version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F9 FT B1022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F9 FT B1026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F9 FT B1021.2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F9 FT B1031.2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349240"/>
            <a:ext cx="4663440" cy="868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20" y="534924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E293B"/>
                </a:solidFill>
                <a:latin typeface="Calibri"/>
              </a:rPr>
              <a:t>Boosters de la versión FT que aterrizaron en barcaza con cargas medianas.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EDA WITH SQL RESULTS · QUERY 7/10 · TOTAL NUMBER OF SUCCESSFUL AND FAILURE MISSION OUTCOMES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Resultados de misión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27648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Fuente: valores de referencia del laboratorio IBM (ejecuta el notebook 04 para regenerarlos)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alessandroxlc · SpaceX Falcon 9 · IBM Data Science Capstone   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4663440" cy="3566160"/>
          </a:xfrm>
          <a:prstGeom prst="roundRect">
            <a:avLst>
              <a:gd name="adj" fmla="val 4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60" y="1947672"/>
            <a:ext cx="41148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SELECT TRIM(Mission_Outcome),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       COUNT(*) AS Total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FROM SPACEXTABLE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GROUP BY TRIM(Mission_Outcome);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577840" y="1691640"/>
          <a:ext cx="6065214" cy="153619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76586"/>
                <a:gridCol w="1088628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Mission_Outcome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Failure (in flight)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Success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Success (payload status unclear)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349240"/>
            <a:ext cx="4663440" cy="868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20" y="534924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E293B"/>
                </a:solidFill>
                <a:latin typeface="Calibri"/>
              </a:rPr>
              <a:t>Las misiones casi nunca fallan: el reto real es recuperar el booster.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EDA WITH SQL RESULTS · QUERY 8/10 · BOOSTERS CARRIED MAXIMUM PAYLOAD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Boosters con la carga máxima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27648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Fuente: valores de referencia del laboratorio IBM (ejecuta el notebook 04 para regenerarlos)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alessandroxlc · SpaceX Falcon 9 · IBM Data Science Capstone   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4663440" cy="3566160"/>
          </a:xfrm>
          <a:prstGeom prst="roundRect">
            <a:avLst>
              <a:gd name="adj" fmla="val 4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60" y="1947672"/>
            <a:ext cx="41148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SELECT DISTINCT Booster_Version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FROM SPACEXTABLE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WHERE PAYLOAD_MASS__KG_ = (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  SELECT MAX(PAYLOAD_MASS__KG_)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  FROM SPACEXTABLE);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577840" y="1691640"/>
          <a:ext cx="6065214" cy="38039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864129"/>
                <a:gridCol w="3201085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Booster_Version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PAYLOAD_MASS__KG_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F9 B5 B1048.4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15600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F9 B5 B1049.4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15600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F9 B5 B1051.3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15600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F9 B5 B1056.4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15600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F9 B5 B1048.5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15600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F9 B5 B1051.4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15600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F9 B5 B1049.5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15600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F9 B5 B1060.2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15600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F9 B5 B1058.3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15600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F9 B5 B1051.6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15600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F9 B5 B1060.3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15600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F9 B5 B1049.7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15600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349240"/>
            <a:ext cx="4663440" cy="868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20" y="534924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E293B"/>
                </a:solidFill>
                <a:latin typeface="Calibri"/>
              </a:rPr>
              <a:t>Los boosters Block 5 son los que transportaron la carga máxima.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EDA WITH SQL RESULTS · QUERY 9/10 · 2015 LAUNCH RECORDS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Fallos en barcaza en 2015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27648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Fuente: valores de referencia del laboratorio IBM (ejecuta el notebook 04 para regenerarlos)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alessandroxlc · SpaceX Falcon 9 · IBM Data Science Capstone   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4663440" cy="3566160"/>
          </a:xfrm>
          <a:prstGeom prst="roundRect">
            <a:avLst>
              <a:gd name="adj" fmla="val 4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60" y="1947672"/>
            <a:ext cx="41148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SELECT substr(Date,6,2) AS Month,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       Date, Booster_Version,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       Launch_Site, Landing_Outcome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FROM SPACEXTABLE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WHERE Landing_Outcome =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      'Failure (drone ship)'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  AND substr(Date,1,4) = '2015';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577840" y="1691640"/>
          <a:ext cx="6065212" cy="11521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33679"/>
                <a:gridCol w="905255"/>
                <a:gridCol w="1538935"/>
                <a:gridCol w="1176832"/>
                <a:gridCol w="1810511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Booster_Version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Launch_Site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Landing_Outcome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01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2015-01-10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F9 v1.1 B1012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CCAFS LC-40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Failure (drone ship)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2015-04-14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F9 v1.1 B1015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CCAFS LC-40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Failure (drone ship)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349240"/>
            <a:ext cx="4663440" cy="868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20" y="534924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E293B"/>
                </a:solidFill>
                <a:latin typeface="Calibri"/>
              </a:rPr>
              <a:t>En 2015 los intentos de aterrizaje en barcaza fallaban: SpaceX aún estaba aprendiendo.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EDA WITH SQL RESULTS · QUERY 10/10 · RANK LANDING OUTCOMES BETWEEN 2010-06-04 AND 2017-03-20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Ranking de aterrizajes 2010-06-04 a 2017-03-20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27648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Fuente: valores de referencia del laboratorio IBM (ejecuta el notebook 04 para regenerarlos)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alessandroxlc · SpaceX Falcon 9 · IBM Data Science Capstone   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4663440" cy="3566160"/>
          </a:xfrm>
          <a:prstGeom prst="roundRect">
            <a:avLst>
              <a:gd name="adj" fmla="val 4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60" y="1947672"/>
            <a:ext cx="41148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SELECT Landing_Outcome,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       COUNT(*) AS Total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FROM SPACEXTABLE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WHERE Date BETWEEN '2010-06-04'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               AND '2017-03-20'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GROUP BY Landing_Outcome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ORDER BY Total DESC;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577840" y="1691640"/>
          <a:ext cx="6065214" cy="263347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601197"/>
                <a:gridCol w="1464017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Landing_Outcome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No attempt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Success (drone ship)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Failure (drone ship)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Success (ground pad)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Controlled (ocean)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Uncontrolled (ocean)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Failure (parachute)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Precluded (drone ship)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349240"/>
            <a:ext cx="4663440" cy="868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20" y="534924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E293B"/>
                </a:solidFill>
                <a:latin typeface="Calibri"/>
              </a:rPr>
              <a:t>Entre 2010 y 2017 dominan “No attempt” y los intentos en barcaza: era una etapa experimental.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2194560"/>
            <a:ext cx="1097280" cy="109728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52044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Análisis de proximidad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4348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CBD5E1"/>
                </a:solidFill>
                <a:latin typeface="Calibri"/>
              </a:rPr>
              <a:t>Mapas interactivos con Folium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LAUNCH SITES PROXIMITIES ANALYSIS · ALL LAUNCH SITES ON A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Ubicación de los sitios de lanzamiento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alessandroxlc · SpaceX Falcon 9 · IBM Data Science Capstone   35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7680960" cy="47548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5875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1325880"/>
            <a:ext cx="6949440" cy="4754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Figura pendiente</a:t>
            </a:r>
          </a:p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Se genera con el notebook 06 + scripts/capture_screenshots.py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1600200"/>
            <a:ext cx="304495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Los 4 sitios están en la costa: 3 en Florida y 1 en California.</a:t>
            </a:r>
          </a:p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Están lo más al sur posible de EE. UU. continental: cerca del ecuador la rotación terrestre ayuda a ganar velocidad.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LAUNCH SITES PROXIMITIES ANALYSIS · LAUNCH OUTCOMES BY SITE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Resultados de lanzamiento por sitio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alessandroxlc · SpaceX Falcon 9 · IBM Data Science Capstone   36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7680960" cy="47548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5875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1325880"/>
            <a:ext cx="6949440" cy="4754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Figura pendiente</a:t>
            </a:r>
          </a:p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Se genera con el notebook 06 + scripts/capture_screenshots.py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1600200"/>
            <a:ext cx="304495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Marcadores verdes = aterrizó; rojos = no aterrizó.</a:t>
            </a:r>
          </a:p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Los clústeres agrupan los lanzamientos de cada sitio.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LAUNCH SITES PROXIMITIES ANALYSIS · PROXIMITIES OF A LAUNCH SITE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Entorno de CCAFS SLC-40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alessandroxlc · SpaceX Falcon 9 · IBM Data Science Capstone   37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7680960" cy="47548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5875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1325880"/>
            <a:ext cx="6949440" cy="4754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Figura pendiente</a:t>
            </a:r>
          </a:p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Se genera con el notebook 06 + scripts/capture_screenshots.py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1600200"/>
            <a:ext cx="304495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Distancias medidas con la fórmula del haversine.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2194560"/>
            <a:ext cx="1097280" cy="109728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52044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Dashboard con Plotly Dash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4348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CBD5E1"/>
                </a:solidFill>
                <a:latin typeface="Calibri"/>
              </a:rPr>
              <a:t>Exploración interactiva de los lanzamientos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PLOTLY DASH DASHBOARD · LAUNCH SUCCESS COUNT FOR ALL 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Éxitos por sitio de lanzamiento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alessandroxlc · SpaceX Falcon 9 · IBM Data Science Capstone   39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7680960" cy="47548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5875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1325880"/>
            <a:ext cx="6949440" cy="4754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Figura pendiente</a:t>
            </a:r>
          </a:p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Se genera con scripts/capture_screenshots.py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1600200"/>
            <a:ext cx="304495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Cuota de lanzamientos exitosos que aporta cada sitio.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PLOTLY DASH DASHBOARD · LAUNCH SITE WITH HIGHEST SUCCESS RATIO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Sitio con mayor tasa de éxito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alessandroxlc · SpaceX Falcon 9 · IBM Data Science Capstone   40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7680960" cy="47548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5875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1325880"/>
            <a:ext cx="6949440" cy="4754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Figura pendiente</a:t>
            </a:r>
          </a:p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Se genera con scripts/capture_screenshots.py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1600200"/>
            <a:ext cx="304495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Sitio con la mayor tasa de éxito: éxito frente a fallo.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PLOTLY DASH DASHBOARD · PAYLOAD VS. LAUNCH OUTCOME (ALL SITES)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Carga útil vs. resultado: todos los sitios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alessandroxlc · SpaceX Falcon 9 · IBM Data Science Capstone   41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7680960" cy="47548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5875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1325880"/>
            <a:ext cx="6949440" cy="4754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Figura pendiente</a:t>
            </a:r>
          </a:p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Se genera con scripts/capture_screenshots.py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1600200"/>
            <a:ext cx="304495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Relación entre masa de carga y resultado, por versión del booster.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PLOTLY DASH DASHBOARD · PAYLOAD VS. LAUNCH OUTCOME (RANGE SLIDER)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Carga útil vs. resultado: 2.000–6.000 kg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alessandroxlc · SpaceX Falcon 9 · IBM Data Science Capstone   42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7680960" cy="47548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5875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1325880"/>
            <a:ext cx="6949440" cy="4754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Figura pendiente</a:t>
            </a:r>
          </a:p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Se genera con scripts/capture_screenshots.py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1600200"/>
            <a:ext cx="304495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0">
                <a:solidFill>
                  <a:srgbClr val="1E293B"/>
                </a:solidFill>
                <a:latin typeface="Calibri"/>
              </a:rPr>
              <a:t>El control deslizante filtra la masa y el gráfico se actualiza al instante.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2194560"/>
            <a:ext cx="1097280" cy="109728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52044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Análisis predictivo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4348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CBD5E1"/>
                </a:solidFill>
                <a:latin typeface="Calibri"/>
              </a:rPr>
              <a:t>Clasificación del aterrizaje con machine learning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PREDICTIVE ANALYSIS RESULTS · CLASSIFICATION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Exactitud de clasificación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27648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Fuente: valores de referencia del laboratorio IBM (ejecuta el notebook 07 para regenerarlos)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alessandroxlc · SpaceX Falcon 9 · IBM Data Science Capstone   44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325880"/>
          <a:ext cx="6766560" cy="4754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589520" y="1325880"/>
          <a:ext cx="4050790" cy="2834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17776"/>
                <a:gridCol w="2633014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Modelo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Mejores hiperparámetros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Regresión logística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C=0.01, penalty=l2, solver=lbfgs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SVM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C=1, gamma=0.0316, kernel=sigmoid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Árbol de decisión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criterion=gini, max_depth=4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KNN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93B"/>
                          </a:solidFill>
                          <a:latin typeface="Calibri"/>
                        </a:rPr>
                        <a:t>algorithm=auto, n_neighbors=10, p=1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589520" y="4754880"/>
            <a:ext cx="405079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800"/>
              </a:spcAft>
              <a:buClr>
                <a:srgbClr val="F26B1D"/>
              </a:buClr>
              <a:buFont typeface="Arial"/>
              <a:buChar char="•"/>
            </a:pPr>
            <a:r>
              <a:rPr sz="1400" b="1">
                <a:solidFill>
                  <a:srgbClr val="1E293B"/>
                </a:solidFill>
                <a:latin typeface="Calibri"/>
              </a:rPr>
              <a:t>Mejor modelo: </a:t>
            </a:r>
            <a:r>
              <a:rPr sz="1400" b="0">
                <a:solidFill>
                  <a:srgbClr val="1E293B"/>
                </a:solidFill>
                <a:latin typeface="Calibri"/>
              </a:rPr>
              <a:t>Árbol de decisión</a:t>
            </a:r>
          </a:p>
          <a:p>
            <a:pPr marL="274320" indent="-274320">
              <a:spcAft>
                <a:spcPts val="800"/>
              </a:spcAft>
              <a:buClr>
                <a:srgbClr val="F26B1D"/>
              </a:buClr>
              <a:buFont typeface="Arial"/>
              <a:buChar char="•"/>
            </a:pPr>
            <a:r>
              <a:rPr sz="1400" b="1">
                <a:solidFill>
                  <a:srgbClr val="1E293B"/>
                </a:solidFill>
                <a:latin typeface="Calibri"/>
              </a:rPr>
              <a:t>Criterio: </a:t>
            </a:r>
            <a:r>
              <a:rPr sz="1400" b="0">
                <a:solidFill>
                  <a:srgbClr val="1E293B"/>
                </a:solidFill>
                <a:latin typeface="Calibri"/>
              </a:rPr>
              <a:t>mayor exactitud en prueba y, en empate, en validación cruzada.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PREDICTIVE ANALYSIS RESULTS · CONFUSION MATRIX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Matriz de confusión: Árbol de decisión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27648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Fuente: valores de referencia del laboratorio IBM (ejecuta el notebook 07 para regenerarlos)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alessandroxlc · SpaceX Falcon 9 · IBM Data Science Capstone   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132588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B1220"/>
                </a:solidFill>
                <a:latin typeface="Calibri"/>
              </a:rPr>
              <a:t>Predicción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64592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  <a:latin typeface="Calibri"/>
              </a:rPr>
              <a:t>No aterriza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40" y="164592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  <a:latin typeface="Calibri"/>
              </a:rPr>
              <a:t>Aterriza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118872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4748B"/>
                </a:solidFill>
                <a:latin typeface="Calibri"/>
              </a:rPr>
              <a:t>No aterrizó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03320"/>
            <a:ext cx="118872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4748B"/>
                </a:solidFill>
                <a:latin typeface="Calibri"/>
              </a:rPr>
              <a:t>Aterrizó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57400" y="2011680"/>
            <a:ext cx="1645920" cy="1645920"/>
          </a:xfrm>
          <a:prstGeom prst="roundRect">
            <a:avLst>
              <a:gd name="adj" fmla="val 8000"/>
            </a:avLst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11680" y="228600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306324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VN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94760" y="2011680"/>
            <a:ext cx="1645920" cy="16459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749040" y="228600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D64545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40" y="306324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D64545"/>
                </a:solidFill>
                <a:latin typeface="Calibri"/>
              </a:rPr>
              <a:t>FP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057400" y="3749040"/>
            <a:ext cx="1645920" cy="16459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011680" y="402336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D64545"/>
                </a:solidFill>
                <a:latin typeface="Calibri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480060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D64545"/>
                </a:solidFill>
                <a:latin typeface="Calibri"/>
              </a:rPr>
              <a:t>FN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94760" y="3749040"/>
            <a:ext cx="1645920" cy="1645920"/>
          </a:xfrm>
          <a:prstGeom prst="roundRect">
            <a:avLst>
              <a:gd name="adj" fmla="val 8000"/>
            </a:avLst>
          </a:prstGeom>
          <a:solidFill>
            <a:srgbClr val="1FA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749040" y="402336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40" y="480060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VP</a:t>
            </a:r>
          </a:p>
        </p:txBody>
      </p:sp>
      <p:sp>
        <p:nvSpPr>
          <p:cNvPr id="23" name="TextBox 22"/>
          <p:cNvSpPr txBox="1"/>
          <p:nvPr/>
        </p:nvSpPr>
        <p:spPr>
          <a:xfrm rot="16200000">
            <a:off x="-1188720" y="352044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B1220"/>
                </a:solidFill>
                <a:latin typeface="Calibri"/>
              </a:rPr>
              <a:t>Valor real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1691640"/>
            <a:ext cx="466344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1">
                <a:solidFill>
                  <a:srgbClr val="1E293B"/>
                </a:solidFill>
                <a:latin typeface="Calibri"/>
              </a:rPr>
              <a:t>Aciertos: </a:t>
            </a:r>
            <a:r>
              <a:rPr sz="1600" b="0">
                <a:solidFill>
                  <a:srgbClr val="1E293B"/>
                </a:solidFill>
                <a:latin typeface="Calibri"/>
              </a:rPr>
              <a:t>15 de 18 lanzamientos (83,33 %).</a:t>
            </a:r>
          </a:p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1">
                <a:solidFill>
                  <a:srgbClr val="1E293B"/>
                </a:solidFill>
                <a:latin typeface="Calibri"/>
              </a:rPr>
              <a:t>Verdaderos positivos (VP): </a:t>
            </a:r>
            <a:r>
              <a:rPr sz="1600" b="0">
                <a:solidFill>
                  <a:srgbClr val="1E293B"/>
                </a:solidFill>
                <a:latin typeface="Calibri"/>
              </a:rPr>
              <a:t>12 — aterrizó y el modelo lo predijo.</a:t>
            </a:r>
          </a:p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1">
                <a:solidFill>
                  <a:srgbClr val="1E293B"/>
                </a:solidFill>
                <a:latin typeface="Calibri"/>
              </a:rPr>
              <a:t>Verdaderos negativos (VN): </a:t>
            </a:r>
            <a:r>
              <a:rPr sz="1600" b="0">
                <a:solidFill>
                  <a:srgbClr val="1E293B"/>
                </a:solidFill>
                <a:latin typeface="Calibri"/>
              </a:rPr>
              <a:t>3 — no aterrizó y el modelo lo predijo.</a:t>
            </a:r>
          </a:p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1">
                <a:solidFill>
                  <a:srgbClr val="1E293B"/>
                </a:solidFill>
                <a:latin typeface="Calibri"/>
              </a:rPr>
              <a:t>Falsos positivos (FP): </a:t>
            </a:r>
            <a:r>
              <a:rPr sz="1600" b="0">
                <a:solidFill>
                  <a:srgbClr val="1E293B"/>
                </a:solidFill>
                <a:latin typeface="Calibri"/>
              </a:rPr>
              <a:t>3 — el modelo predijo aterrizaje y no ocurrió.</a:t>
            </a:r>
          </a:p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1">
                <a:solidFill>
                  <a:srgbClr val="1E293B"/>
                </a:solidFill>
                <a:latin typeface="Calibri"/>
              </a:rPr>
              <a:t>Falsos negativos (FN): </a:t>
            </a:r>
            <a:r>
              <a:rPr sz="1600" b="0">
                <a:solidFill>
                  <a:srgbClr val="1E293B"/>
                </a:solidFill>
                <a:latin typeface="Calibri"/>
              </a:rPr>
              <a:t>0 — aterrizó pero el modelo predijo que no.</a:t>
            </a:r>
          </a:p>
          <a:p>
            <a:pPr marL="274320" indent="-274320">
              <a:spcAft>
                <a:spcPts val="1400"/>
              </a:spcAft>
              <a:buClr>
                <a:srgbClr val="F26B1D"/>
              </a:buClr>
              <a:buFont typeface="Arial"/>
              <a:buChar char="•"/>
            </a:pPr>
            <a:r>
              <a:rPr sz="1600" b="1">
                <a:solidFill>
                  <a:srgbClr val="1E293B"/>
                </a:solidFill>
                <a:latin typeface="Calibri"/>
              </a:rPr>
              <a:t>Lectura: </a:t>
            </a:r>
            <a:r>
              <a:rPr sz="1600" b="0">
                <a:solidFill>
                  <a:srgbClr val="1E293B"/>
                </a:solidFill>
                <a:latin typeface="Calibri"/>
              </a:rPr>
              <a:t>reconoce bien los aterrizajes; le cuesta más identificar los lanzamientos que no aterrizan.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Conclusiones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5394960" cy="2011680"/>
          </a:xfrm>
          <a:prstGeom prst="roundRect">
            <a:avLst>
              <a:gd name="adj" fmla="val 6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822960" y="169164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691640"/>
            <a:ext cx="4206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26B1D"/>
                </a:solidFill>
                <a:latin typeface="Calibri"/>
              </a:rPr>
              <a:t>Experiencia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286000"/>
            <a:ext cx="42062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Cuantos más vuelos acumula SpaceX, mayor es la tasa de aterrizaje: el éxito crece año tras año desde 2013.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03320"/>
            <a:ext cx="5394960" cy="2011680"/>
          </a:xfrm>
          <a:prstGeom prst="roundRect">
            <a:avLst>
              <a:gd name="adj" fmla="val 6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822960" y="397764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3977640"/>
            <a:ext cx="4206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26B1D"/>
                </a:solidFill>
                <a:latin typeface="Calibri"/>
              </a:rPr>
              <a:t>Órbita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4572000"/>
            <a:ext cx="42062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Las órbitas con 100 % de éxito tienen pocas misiones; GTO, la más comercial, es la más difícil.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17320"/>
            <a:ext cx="5394960" cy="2011680"/>
          </a:xfrm>
          <a:prstGeom prst="roundRect">
            <a:avLst>
              <a:gd name="adj" fmla="val 6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6446520" y="169164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1691640"/>
            <a:ext cx="4206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26B1D"/>
                </a:solidFill>
                <a:latin typeface="Calibri"/>
              </a:rPr>
              <a:t>Sitio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2286000"/>
            <a:ext cx="42062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KSC LC-39A destaca por su tasa de éxito; todos los sitios están en la costa, cerca de infraestructura y lejos de ciudades.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703320"/>
            <a:ext cx="5394960" cy="2011680"/>
          </a:xfrm>
          <a:prstGeom prst="roundRect">
            <a:avLst>
              <a:gd name="adj" fmla="val 6000"/>
            </a:avLst>
          </a:prstGeom>
          <a:solidFill>
            <a:srgbClr val="16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6446520" y="397764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3977640"/>
            <a:ext cx="4206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26B1D"/>
                </a:solidFill>
                <a:latin typeface="Calibri"/>
              </a:rPr>
              <a:t>Predicción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4572000"/>
            <a:ext cx="42062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El mejor modelo (Árbol de decisión) alcanza 83,33 % de exactitud en prueba. Su error más frecuente es el falso positivo.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27648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BD5E1"/>
                </a:solidFill>
                <a:latin typeface="Calibri"/>
              </a:rPr>
              <a:t>Fuente: valores de referencia del laboratorio IBM (ejecuta el notebook 07 para regenerarlos)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BD5E1"/>
                </a:solidFill>
                <a:latin typeface="Calibri"/>
              </a:rPr>
              <a:t>alessandroxlc · SpaceX Falcon 9 · IBM Data Science Capstone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INNOVATIVE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Ideas innovadoras y próximos pasos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alessandroxlc · SpaceX Falcon 9 · IBM Data Science Capstone   47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353312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B1220"/>
                </a:solidFill>
                <a:latin typeface="Calibri"/>
              </a:rPr>
              <a:t>Más datos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783080"/>
            <a:ext cx="4663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Añadir los lanzamientos posteriores a 2020: con solo 18 casos de prueba cada acierto vale 5,6 puntos.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97180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953512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B1220"/>
                </a:solidFill>
                <a:latin typeface="Calibri"/>
              </a:rPr>
              <a:t>Variables nuevas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383280"/>
            <a:ext cx="4663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Meteorología del día del lanzamiento y estado del mar en la zona de la barcaza.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57200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553712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B1220"/>
                </a:solidFill>
                <a:latin typeface="Calibri"/>
              </a:rPr>
              <a:t>Probabilidades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983480"/>
            <a:ext cx="4663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Calibrar el modelo para estimar la probabilidad de aterrizaje y, con ella, el coste esperado.</a:t>
            </a:r>
          </a:p>
        </p:txBody>
      </p:sp>
      <p:sp>
        <p:nvSpPr>
          <p:cNvPr id="14" name="Oval 13"/>
          <p:cNvSpPr/>
          <p:nvPr/>
        </p:nvSpPr>
        <p:spPr>
          <a:xfrm>
            <a:off x="6172200" y="137160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1353312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B1220"/>
                </a:solidFill>
                <a:latin typeface="Calibri"/>
              </a:rPr>
              <a:t>Validación temporal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1783080"/>
            <a:ext cx="4663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Entrenar con el pasado y probar con el futuro para medir la capacidad real de predicción.</a:t>
            </a:r>
          </a:p>
        </p:txBody>
      </p:sp>
      <p:sp>
        <p:nvSpPr>
          <p:cNvPr id="17" name="Oval 16"/>
          <p:cNvSpPr/>
          <p:nvPr/>
        </p:nvSpPr>
        <p:spPr>
          <a:xfrm>
            <a:off x="6172200" y="297180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953512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B1220"/>
                </a:solidFill>
                <a:latin typeface="Calibri"/>
              </a:rPr>
              <a:t>Interpretabilidad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383280"/>
            <a:ext cx="4663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Explicar cada predicción (importancia de variables, SHAP) para los equipos de negocio.</a:t>
            </a:r>
          </a:p>
        </p:txBody>
      </p:sp>
      <p:sp>
        <p:nvSpPr>
          <p:cNvPr id="20" name="Oval 19"/>
          <p:cNvSpPr/>
          <p:nvPr/>
        </p:nvSpPr>
        <p:spPr>
          <a:xfrm>
            <a:off x="6172200" y="4572000"/>
            <a:ext cx="502920" cy="502920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03720" y="4553712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B1220"/>
                </a:solidFill>
                <a:latin typeface="Calibri"/>
              </a:rPr>
              <a:t>Producto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4983480"/>
            <a:ext cx="4663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93B"/>
                </a:solidFill>
                <a:latin typeface="Calibri"/>
              </a:rPr>
              <a:t>Publicar el modelo como API y conectarlo al dashboard para simular ofertas en licitaciones.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26B1D"/>
                </a:solidFill>
                <a:latin typeface="Calibri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944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B1220"/>
                </a:solidFill>
                <a:latin typeface="Calibri"/>
              </a:rPr>
              <a:t>Apéndice: repositorio y reproducibilidad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6327648"/>
            <a:ext cx="3959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alessandroxlc · SpaceX Falcon 9 · IBM Data Science Capstone   48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7132320" cy="43891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74620"/>
                <a:gridCol w="445770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Archivo en el repositorio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0B1220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Recolección con API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notebooks/01_data_collection_api.ipynb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Web scraping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notebooks/02_data_collection_webscraping.ipynb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Data wrangling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notebooks/03_data_wrangling.ipynb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EDA con SQL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notebooks/04_eda_sql.ipynb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EDA con visualización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notebooks/05_eda_visualization.ipynb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Mapas con Folium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notebooks/06_interactive_map_folium.ipynb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Dashboard con Plotly Dash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dashboard/spacex_dash_app.py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Machine learning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notebooks/07_machine_learning_prediction.ipynb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Generador de esta presentación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presentation/generate_presentation.py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BD5E1"/>
                      </a:solidFill>
                    </a:lnL>
                    <a:lnR w="9525" cap="flat" cmpd="sng" algn="ctr">
                      <a:solidFill>
                        <a:srgbClr val="CBD5E1"/>
                      </a:solidFill>
                    </a:lnR>
                    <a:lnT w="9525" cap="flat" cmpd="sng" algn="ctr">
                      <a:solidFill>
                        <a:srgbClr val="CBD5E1"/>
                      </a:solidFill>
                    </a:lnT>
                    <a:lnB w="9525" cap="flat" cmpd="sng" algn="ctr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138160" y="1325880"/>
            <a:ext cx="3474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B1220"/>
                </a:solidFill>
                <a:latin typeface="Calibri"/>
              </a:rPr>
              <a:t>Reproducir el proyecto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874520"/>
            <a:ext cx="34747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1200"/>
              </a:spcAft>
              <a:buClr>
                <a:srgbClr val="F26B1D"/>
              </a:buClr>
              <a:buFont typeface="Arial"/>
              <a:buChar char="•"/>
            </a:pPr>
            <a:r>
              <a:rPr sz="1500" b="0">
                <a:solidFill>
                  <a:srgbClr val="1E293B"/>
                </a:solidFill>
                <a:latin typeface="Calibri"/>
              </a:rPr>
              <a:t>pip install -r requirements.txt</a:t>
            </a:r>
          </a:p>
          <a:p>
            <a:pPr marL="274320" indent="-274320">
              <a:spcAft>
                <a:spcPts val="1200"/>
              </a:spcAft>
              <a:buClr>
                <a:srgbClr val="F26B1D"/>
              </a:buClr>
              <a:buFont typeface="Arial"/>
              <a:buChar char="•"/>
            </a:pPr>
            <a:r>
              <a:rPr sz="1500" b="0">
                <a:solidFill>
                  <a:srgbClr val="1E293B"/>
                </a:solidFill>
                <a:latin typeface="Calibri"/>
              </a:rPr>
              <a:t>Ejecutar los notebooks 01 → 07</a:t>
            </a:r>
          </a:p>
          <a:p>
            <a:pPr marL="274320" indent="-274320">
              <a:spcAft>
                <a:spcPts val="1200"/>
              </a:spcAft>
              <a:buClr>
                <a:srgbClr val="F26B1D"/>
              </a:buClr>
              <a:buFont typeface="Arial"/>
              <a:buChar char="•"/>
            </a:pPr>
            <a:r>
              <a:rPr sz="1500" b="0">
                <a:solidFill>
                  <a:srgbClr val="1E293B"/>
                </a:solidFill>
                <a:latin typeface="Calibri"/>
              </a:rPr>
              <a:t>python scripts/capture_screenshots.py</a:t>
            </a:r>
          </a:p>
          <a:p>
            <a:pPr marL="274320" indent="-274320">
              <a:spcAft>
                <a:spcPts val="1200"/>
              </a:spcAft>
              <a:buClr>
                <a:srgbClr val="F26B1D"/>
              </a:buClr>
              <a:buFont typeface="Arial"/>
              <a:buChar char="•"/>
            </a:pPr>
            <a:r>
              <a:rPr sz="1500" b="0">
                <a:solidFill>
                  <a:srgbClr val="1E293B"/>
                </a:solidFill>
                <a:latin typeface="Calibri"/>
              </a:rPr>
              <a:t>python presentation/generate_presentation.py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512064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26B1D"/>
                </a:solidFill>
                <a:latin typeface="Calibri"/>
                <a:hlinkClick r:id="rId3"/>
              </a:rPr>
              <a:t>https://github.com/alessandroxlc/spacex-falcon9-capstone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F26B1D"/>
      </a:hlink>
      <a:folHlink>
        <a:srgbClr val="F26B1D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