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Tasa de éxito</c:v>
                </c:pt>
              </c:strCache>
            </c:strRef>
          </c:tx>
          <c:spPr>
            <a:solidFill>
              <a:srgbClr val="F26B1D"/>
            </a:solidFill>
          </c:spPr>
          <c:cat>
            <c:strRef>
              <c:f>Sheet1!$A$2:$A$12</c:f>
              <c:strCache>
                <c:ptCount val="11"/>
                <c:pt idx="0">
                  <c:v>ES-L1</c:v>
                </c:pt>
                <c:pt idx="1">
                  <c:v>GEO</c:v>
                </c:pt>
                <c:pt idx="2">
                  <c:v>HEO</c:v>
                </c:pt>
                <c:pt idx="3">
                  <c:v>SSO</c:v>
                </c:pt>
                <c:pt idx="4">
                  <c:v>VLEO</c:v>
                </c:pt>
                <c:pt idx="5">
                  <c:v>LEO</c:v>
                </c:pt>
                <c:pt idx="6">
                  <c:v>PO</c:v>
                </c:pt>
                <c:pt idx="7">
                  <c:v>MEO</c:v>
                </c:pt>
                <c:pt idx="8">
                  <c:v>ISS</c:v>
                </c:pt>
                <c:pt idx="9">
                  <c:v>GTO</c:v>
                </c:pt>
                <c:pt idx="10">
                  <c:v>SO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  <c:pt idx="4">
                  <c:v>0.8571</c:v>
                </c:pt>
                <c:pt idx="5">
                  <c:v>0.7143</c:v>
                </c:pt>
                <c:pt idx="6">
                  <c:v>0.6667</c:v>
                </c:pt>
                <c:pt idx="7">
                  <c:v>0.6667</c:v>
                </c:pt>
                <c:pt idx="8">
                  <c:v>0.619</c:v>
                </c:pt>
                <c:pt idx="9">
                  <c:v>0.5185</c:v>
                </c:pt>
                <c:pt idx="10">
                  <c:v>0.0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>
                  <a:solidFill>
                    <a:srgbClr val="1E293B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64748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éxito</c:v>
                </c:pt>
              </c:strCache>
            </c:strRef>
          </c:tx>
          <c:spPr>
            <a:ln w="38100">
              <a:solidFill>
                <a:srgbClr val="F26B1D"/>
              </a:solidFill>
            </a:ln>
          </c:spPr>
          <c:marker>
            <c:size val="9"/>
            <c:spPr>
              <a:solidFill>
                <a:srgbClr val="F26B1D"/>
              </a:solidFill>
              <a:ln>
                <a:solidFill>
                  <a:srgbClr val="F26B1D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2010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0.3333</c:v>
                </c:pt>
                <c:pt idx="4">
                  <c:v>0.3333</c:v>
                </c:pt>
                <c:pt idx="5">
                  <c:v>0.625</c:v>
                </c:pt>
                <c:pt idx="6">
                  <c:v>0.8333</c:v>
                </c:pt>
                <c:pt idx="7">
                  <c:v>0.6111</c:v>
                </c:pt>
                <c:pt idx="8">
                  <c:v>0.9</c:v>
                </c:pt>
                <c:pt idx="9">
                  <c:v>0.8421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sz="1200">
                  <a:solidFill>
                    <a:srgbClr val="1E293B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64748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Validación cruzada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Sheet1!$A$2:$A$5</c:f>
              <c:strCache>
                <c:ptCount val="4"/>
                <c:pt idx="0">
                  <c:v>Regresión logística</c:v>
                </c:pt>
                <c:pt idx="1">
                  <c:v>SVM</c:v>
                </c:pt>
                <c:pt idx="2">
                  <c:v>Árbol de decisión</c:v>
                </c:pt>
                <c:pt idx="3">
                  <c:v>KNN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0.8214</c:v>
                </c:pt>
                <c:pt idx="1">
                  <c:v>0.8482</c:v>
                </c:pt>
                <c:pt idx="2">
                  <c:v>0.8339</c:v>
                </c:pt>
                <c:pt idx="3">
                  <c:v>0.8339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Prueba</c:v>
                </c:pt>
              </c:strCache>
            </c:strRef>
          </c:tx>
          <c:spPr>
            <a:solidFill>
              <a:srgbClr val="F26B1D"/>
            </a:solidFill>
          </c:spPr>
          <c:cat>
            <c:strRef>
              <c:f>Sheet1!$A$2:$A$5</c:f>
              <c:strCache>
                <c:ptCount val="4"/>
                <c:pt idx="0">
                  <c:v>Regresión logística</c:v>
                </c:pt>
                <c:pt idx="1">
                  <c:v>SVM</c:v>
                </c:pt>
                <c:pt idx="2">
                  <c:v>Árbol de decisión</c:v>
                </c:pt>
                <c:pt idx="3">
                  <c:v>KNN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0.8333</c:v>
                </c:pt>
                <c:pt idx="1">
                  <c:v>0.8333</c:v>
                </c:pt>
                <c:pt idx="2">
                  <c:v>0.9444</c:v>
                </c:pt>
                <c:pt idx="3">
                  <c:v>0.8333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>
                  <a:solidFill>
                    <a:srgbClr val="1E293B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64748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proyecto final. En una frase: usamos datos públicos de lanzamientos de SpaceX para predecir si la primera etapa del cohete Falcon 9 aterrizará, porque de eso depende el precio de un lanzamiento.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Recorrido de la presentación siguiendo la estructura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clave: con datos públicos y modelos sencillos se puede anticipar si el booster aterrizará en aproximadamente 8 de cada 10 lanzamientos de prueba. Explicar brevemente las fases de la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SpaceX anuncia lanzamientos del Falcon 9 por unos 62 millones de dólares; otros proveedores superan los 165 millones. La diferencia se explica porque SpaceX reutiliza la primera etapa. Si sabemos predecir si aterrizará, podemos estimar el coste de un lanzamiento: útil para una empresa que quiera competir con SpaceX en una licitación.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1: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proyecto es una tubería de datos completa: obtener datos, limpiarlos, explorarlos, visualizarlos de forma interactiva y finalmente entrenar modelos que predicen el aterrizaje.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fuentes complementarias: la API de SpaceX (datos estructurados en JSON) y la tabla de lanzamientos de Wikipedia (HTML). Ambas se convierten en tablas de pandas.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descarga el histórico de lanzamientos, se filtran las misiones simples y se completan los datos consultando los demás endpoints. Al final se queda solo el Falcon 9 y se rellenan las masas que faltan con la media.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descarga una versión fija de la página de Wikipedia para que el resultado sea reproducible, se buscan las tablas de lanzamientos y se extrae cada fila a un diccionario que luego se convierte en DataFrame.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columna Outcome combina si el aterrizaje tuvo éxito y dónde se intentó. La convertimos en una etiqueta binaria: 1 si aterrizó, 0 si no. Es la variable que el modelo aprenderá a predecir.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gráfico responde una pregunta concreta. Los diagramas de dispersión muestran relaciones entre dos variables, la barra compara tasas entre categorías y la línea muestra la evolución en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cargó el dataset en una base SQLite y se respondieron diez preguntas con SQL: filtros con WHERE y LIKE, agregaciones con SUM, AVG, MIN y COUNT, agrupaciones con GROUP BY y una subconsulta.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Folium crea mapas interactivos en HTML. Marcamos los sitios, agrupamos los lanzamientos con colores según el resultado y medimos distancias a la costa, el ferrocarril, la autopista y la ciudad más cercana.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dashboard permite explorar los datos sin programar: eliges un sitio y un rango de masa y los gráficos se actualizan solos mediante callbacks.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Proceso estándar de aprendizaje supervisado: estandarizar, separar datos de prueba que el modelo nunca ve, buscar los mejores hiperparámetros con validación cruzada y comparar en el conjunto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previa de los tres bloques de resultados que se detallan a continuación.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2: Hallazgos del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punto es un lanzamiento. Verde: aterrizó; rojo: no. Hacia la derecha (más experiencia) predomina el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Relación entre la masa de la carga y el sitio. No hay una relación simple: la masa por sí sola no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barra muestra el porcentaje de aterrizajes exitosos en cada órbita. Ojo: algunas órbitas con 100 % tienen solo uno o dos lanzamientos, así que no son concluyentes.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Combina experiencia y órbita: no todas las órbitas se benefician igual de la experiencia.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algunas órbitas, más masa no impide aterrizar; para GTO la relación no es clara.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línea muestra el porcentaje de aterrizajes exitosos por año. Desde 2013 la tendencia es claramente ascendente: SpaceX aprendió a aterrizar sus cohetes.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1. A la izquierda la consulta, a la derecha el resultado. Idea clave: Hay 4 sitios: dos en Cabo Cañaveral (CCAFS LC-40 y SLC-40), uno en Kennedy (KSC LC-39A) y uno en Vandenberg (VAFB SLC-4E).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2. A la izquierda la consulta, a la derecha el resultado. Idea clave: Los primeros lanzamientos desde Cabo Cañaveral llevaban cápsulas Dragon de prueba y misiones CRS para la NASA.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3. A la izquierda la consulta, a la derecha el resultado. Idea clave: Masa total transportada para el programa de reabastecimiento de la NASA (CRS).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4. A la izquierda la consulta, a la derecha el resultado. Idea clave: Masa media que transportaba la versión F9 v1.1 del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5. A la izquierda la consulta, a la derecha el resultado. Idea clave: El primer aterrizaje exitoso en tierra llegó más de cinco años después del primer lanzamiento.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6. A la izquierda la consulta, a la derecha el resultado. Idea clave: Boosters de la versión FT que aterrizaron en barcaza con cargas medianas.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7. A la izquierda la consulta, a la derecha el resultado. Idea clave: Las misiones casi nunca fallan: el reto real es recuperar 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8. A la izquierda la consulta, a la derecha el resultado. Idea clave: Los boosters Block 5 son los que transportaron la carga máxima.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9. A la izquierda la consulta, a la derecha el resultado. Idea clave: En 2015 los intentos de aterrizaje en barcaza fallaban: SpaceX aún estaba aprendiendo.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10. A la izquierda la consulta, a la derecha el resultado. Idea clave: Entre 2010 y 2017 dominan “No attempt” y los intentos en barcaza: era una etapa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3: Análisis de proximidad.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con los cuatro sitios marcados. Señalar que todos están junto al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marcador es un lanzamiento coloreado según su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Distancias a costa, ferrocarril, autopista y ciudad. El sitio está a muy poca distancia del mar y de las vías de transporte, y lejos de núcleos urbanos.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4: Dashboard con Plotly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Gráfico de pastel con todos los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elegir un sitio en el desplegable, el pastel muestra su proporción de éxito y fallo.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Dispersión con todo el rango de masa. Cada color es una versión del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dispersión tras reducir el rango de masa con el control deslizante.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5: Análisis predictivo.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Gris: exactitud media en validación cruzada (dentro del entrenamiento). Naranja: exactitud sobre los lanzamientos de prueba que el modelo nunca vio. Con tan pocos datos de prueba, varios modelos empatan.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matriz compara lo que predijo el modelo con lo que pasó de verdad. La diagonal (verde) son aciertos; fuera de la diagonal están los errores.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respuestas a las preguntas del inicio. El aprendizaje principal: la experiencia, la órbita y el sitio influyen en el aterrizaje, y un modelo sencillo acierta la gran mayoría de los casos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Propuestas para llevar el proyecto más allá del curso. Son ideas, no resultados: hay que presentarlas como trabajo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Dónde está cada parte del trabajo y cómo reproducirlo.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alessandroxlc/spacex-falcon9-capston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alessandroxlc/spacex-falcon9-capstone/blob/main/notebooks/01_data_collection_api.ipynb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alessandroxlc/spacex-falcon9-capstone/blob/main/notebooks/02_data_collection_webscraping.ipyn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alessandroxlc/spacex-falcon9-capstone/blob/main/notebooks/03_data_wrangling.ipyn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alessandroxlc/spacex-falcon9-capstone/blob/main/notebooks/05_eda_visualization.ipynb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alessandroxlc/spacex-falcon9-capstone/blob/main/notebooks/04_eda_sql.ipynb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alessandroxlc/spacex-falcon9-capstone/blob/main/notebooks/06_interactive_map_folium.ipynb" TargetMode="External"/><Relationship Id="rId4" Type="http://schemas.openxmlformats.org/officeDocument/2006/relationships/hyperlink" Target="https://github.com/alessandroxlc/spacex-falcon9-capstone/blob/main/dashboard/spacex_dash_app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alessandroxlc/spacex-falcon9-capstone/blob/main/notebooks/06_interactive_map_folium.ipynb" TargetMode="External"/><Relationship Id="rId4" Type="http://schemas.openxmlformats.org/officeDocument/2006/relationships/hyperlink" Target="https://github.com/alessandroxlc/spacex-falcon9-capstone/blob/main/dashboard/spacex_dash_app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alessandroxlc/spacex-falcon9-capstone/blob/main/notebooks/07_machine_learning_prediction.ipyn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github.com/alessandroxlc/spacex-falcon9-capston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188720"/>
            <a:ext cx="914400" cy="9144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F9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231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26B1D"/>
                </a:solidFill>
                <a:latin typeface="Calibri"/>
              </a:rPr>
              <a:t>IBM APPLIED DATA SCIENCE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88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¿Aterrizará la primera etapa?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Predicción del aterrizaje del SpaceX Falcon 9 con ciencia de datos y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Diego Laureano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04/10/2026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26B1D"/>
                </a:solidFill>
                <a:latin typeface="Calibri"/>
                <a:hlinkClick r:id="rId3"/>
              </a:rPr>
              <a:t>Repositorio GitHub: https://github.com/alessandroxlc/spacex-falcon9-capstone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Resumen ejecutivo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688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Introducción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832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Metodología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976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Resultados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2120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Hallazgos del EDA (visualización y SQL)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15544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5544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Análisis de proximidad con Folium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4688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4688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Dashboard con Plotly Dash</a:t>
            </a:r>
          </a:p>
        </p:txBody>
      </p:sp>
      <p:sp>
        <p:nvSpPr>
          <p:cNvPr id="19" name="Oval 18"/>
          <p:cNvSpPr/>
          <p:nvPr/>
        </p:nvSpPr>
        <p:spPr>
          <a:xfrm>
            <a:off x="6126480" y="33832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832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Análisis predictivo (clasificación)</a:t>
            </a:r>
          </a:p>
        </p:txBody>
      </p:sp>
      <p:sp>
        <p:nvSpPr>
          <p:cNvPr id="21" name="Oval 20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976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Conclusiones</a:t>
            </a:r>
          </a:p>
        </p:txBody>
      </p:sp>
      <p:sp>
        <p:nvSpPr>
          <p:cNvPr id="23" name="Oval 22"/>
          <p:cNvSpPr/>
          <p:nvPr/>
        </p:nvSpPr>
        <p:spPr>
          <a:xfrm>
            <a:off x="6126480" y="52120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2120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Apéndice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results/model_results.json (notebook 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583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Metodología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Recolección: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API REST de SpaceX y web scraping de Wikipedia.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Preparación: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limpieza, imputación y etiqueta binaria Class (1 = aterrizó).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EDA: </a:t>
            </a:r>
            <a:r>
              <a:rPr sz="1600" b="0">
                <a:solidFill>
                  <a:srgbClr val="1E293B"/>
                </a:solidFill>
                <a:latin typeface="Calibri"/>
              </a:rPr>
              <a:t>gráficos con Seaborn y 10 consultas SQL.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Analítica interactiva: </a:t>
            </a:r>
            <a:r>
              <a:rPr sz="1600" b="0">
                <a:solidFill>
                  <a:srgbClr val="1E293B"/>
                </a:solidFill>
                <a:latin typeface="Calibri"/>
              </a:rPr>
              <a:t>mapas con Folium y dashboard con Plotly Dash.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Modelado: </a:t>
            </a:r>
            <a:r>
              <a:rPr sz="1600" b="0">
                <a:solidFill>
                  <a:srgbClr val="1E293B"/>
                </a:solidFill>
                <a:latin typeface="Calibri"/>
              </a:rPr>
              <a:t>regresión logística, SVM, árbol de decisión y KNN con GridSearchCV.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25880"/>
            <a:ext cx="4050791" cy="466344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160020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26B1D"/>
                </a:solidFill>
                <a:latin typeface="Calibri"/>
              </a:rPr>
              <a:t>94,44 %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42316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exactitud en prueba del mejor modelo (árbol de decisión)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06324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388620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modelos de clasificación comparados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45262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53492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lanzamientos Falcon 9 analizados (2010–2020)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Introducción: el valor de reutilizar el cohete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 de precios: enunciado del curso IBM Applied Data Science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FA67A"/>
                </a:solidFill>
                <a:latin typeface="Calibri"/>
              </a:rPr>
              <a:t>62 M$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precio publicado por SpaceX para un Falcon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3258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00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D64545"/>
                </a:solidFill>
                <a:latin typeface="Calibri"/>
              </a:rPr>
              <a:t>165 M$+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coste habitual de otros proveedores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La diferencia: SpaceX recupera y reutiliza la primera etapa del cohete.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6858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Si el booster aterriza, el lanzamiento es más barato.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Predecir el aterrizaje permite estimar el coste de cada misión.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Una empresa competidora (como la ficticia SpaceY) puede usarlo para preparar sus ofertas.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3258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Preguntas a responder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196596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19202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¿Qué variables influyen en el éxito del aterrizaje?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297180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¿Cómo ha evolucionado la tasa de éxito con los años?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397764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9319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¿Influye la ubicación del sitio de lanzamiento?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¿Con qué exactitud podemos predecir el resultado?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Cómo se obtuvieron, prepararon y analizaron los datos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Resumen de la 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7442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Recolección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API REST de SpaceX y web scraping de Wikipedia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6771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2919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95497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63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Wrangling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35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Limpieza, imputación de nulos y etiqueta Class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48267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0975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483553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119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91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Visualización (Seaborn) y consultas SQL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2882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9030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71608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74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Mapas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46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Análisis geoespacial con Folium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09377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7086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59664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230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802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Aplicación interactiva con Plotly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8993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5141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047719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285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Modelado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4 clasificadores + GridSearchCV + evaluación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Herramientas: Python · pandas · NumPy · requests · BeautifulSoup · SQLite · Matplotlib · Seaborn · Folium · Plotly Dash · scikit-learn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Recolección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783080"/>
            <a:ext cx="566928" cy="566928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8308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B1220"/>
                </a:solidFill>
                <a:latin typeface="Calibri"/>
              </a:rPr>
              <a:t>SpaceX REST API v4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Endpoints: launches, rockets, launchpads, payloads y cores.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Respuesta en JSON → pd.json_normalize.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Resultado: data/dataset_part_1.csv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37960" y="1783080"/>
            <a:ext cx="566928" cy="566928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78308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B1220"/>
                </a:solidFill>
                <a:latin typeface="Calibri"/>
              </a:rPr>
              <a:t>Web scraping (Wikipedia)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Página “List of Falcon 9 and Falcon Heavy launches”.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requests + BeautifulSoup sobre las tablas HTML.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Resultado: data/spacex_web_scraped.csv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Ambas fuentes se unifican en un dataset de un lanzamiento por fila, con variables de la misión (fecha, booster, carga, órbita, sitio) y el resultado del aterrizaje.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 – SPACEX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Recopilación de datos: API de SpaceX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GET /launches/past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(copia estática del curso)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pd.json_normalize()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Filtrar 1 núcleo, 1 carga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fecha ≤ 13-11-2020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Resolver IDs en /rockets,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/launchpads, /payloads, /cores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Filtrar Falcon 9 e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imputar PayloadMass (media)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dataset_part_1.csv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https://github.com/alessandroxlc/spacex-falcon9-capstone/blob/main/notebooks/01_data_collection_api.ipynb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 – SCRAPING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Recopilación de datos: web scraping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requests.get(URL de Wikipedia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oldid=1027686922)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BeautifulSoup(html)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find_all('table',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'wikitable plainrowheaders')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Extraer nombres de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columna (&lt;th&gt;)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Recorrer filas y limpiar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celdas (fecha, booster, masa…)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spacex_web_scraped.csv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https://github.com/alessandroxlc/spacex-falcon9-capstone/blob/main/notebooks/02_data_collection_webscraping.ipynb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WRANGLING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Metodología de limpieza de datos (data wrangling)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Tasa global de éxito tras el wrangling: 66,7 %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Exploración: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porcentaje de nulos, tipos de dato y recuentos por sitio y órbita.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Nulos: </a:t>
            </a:r>
            <a:r>
              <a:rPr sz="1600" b="0">
                <a:solidFill>
                  <a:srgbClr val="1E293B"/>
                </a:solidFill>
                <a:latin typeface="Calibri"/>
              </a:rPr>
              <a:t>PayloadMass se imputa con la media; LandingPad se conserva (nulo = sin plataforma).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Etiqueta: </a:t>
            </a:r>
            <a:r>
              <a:rPr sz="1600" b="0">
                <a:solidFill>
                  <a:srgbClr val="1E293B"/>
                </a:solidFill>
                <a:latin typeface="Calibri"/>
              </a:rPr>
              <a:t>Class = 1 si Outcome empieza por “True”; 0 en cualquier otro caso.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Salida: </a:t>
            </a:r>
            <a:r>
              <a:rPr sz="1600" b="0">
                <a:solidFill>
                  <a:srgbClr val="1E293B"/>
                </a:solidFill>
                <a:latin typeface="Calibri"/>
              </a:rPr>
              <a:t>data/dataset_part_2.csv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https://github.com/alessandroxlc/spacex-falcon9-capstone/blob/main/notebooks/03_data_wrangling.ipynb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325880"/>
          <a:ext cx="560527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8967"/>
                <a:gridCol w="2893043"/>
                <a:gridCol w="7232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Significado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Aterrizó en barcaza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RTLS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Aterrizó en tierra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Ocean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Descenso controlado al océano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en barcaza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RTLS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en tierra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Ocean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sobre el océano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None None / None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Sin intento de aterrizaje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EDA WITH DATA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EDA con visualización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3" cy="3712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06067"/>
                <a:gridCol w="3354125"/>
                <a:gridCol w="5934221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N.º de vuelo vs. sitio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¿Mejora el éxito con la experiencia en cada sitio?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Carga útil vs. sitio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¿Hay sitios para cargas pesadas?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Barras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Tasa de éxito por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¿Qué órbitas son más fáciles?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N.º de vuelo vs.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¿Cambia la relación con la experiencia según la órbita?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Carga útil vs.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¿Influye la masa según la órbita?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Tasa de éxito por año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¿Cuál es la tendencia en el tiempo?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Después se aplica One-Hot Encoding a Orbit, LaunchSite, LandingPad y Serial → dataset_part_3.csv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https://github.com/alessandroxlc/spacex-falcon9-capstone/blob/main/notebooks/05_eda_visualization.ipynb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EDA WITH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EDA con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Sitios de lanzamiento únicos (DISTINCT)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21992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5 registros de sitios que empiezan por 'CCA' (LIKE)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026664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2666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Masa total para NASA (CRS) (SUM)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31336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Masa media del booster F9 v1.1 (AVG)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636008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63600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Primer aterrizaje exitoso en tierra (MIN)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141732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1732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Éxito en barcaza con carga 4.000–6.000 kg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221992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221992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Misiones exitosas y fallidas (GROUP BY)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3026664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02666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Boosters con la carga máxima (subconsulta)</a:t>
            </a:r>
          </a:p>
        </p:txBody>
      </p:sp>
      <p:sp>
        <p:nvSpPr>
          <p:cNvPr id="21" name="Oval 20"/>
          <p:cNvSpPr/>
          <p:nvPr/>
        </p:nvSpPr>
        <p:spPr>
          <a:xfrm>
            <a:off x="6172200" y="3831336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831336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Fallos en barcaza en 2015 (substr)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4636008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63600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Ranking de aterrizajes 2010–2017 (ORDER BY)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https://github.com/alessandroxlc/spacex-falcon9-capstone/blob/main/notebooks/04_eda_sql.ipynb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INTERACTIVE VISUAL ANALYTICS (FOLIUM)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visual interactivo: mapa con Folium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Círculos y etiquetas (folium.Circle, DivIcon)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647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Ubicar los 4 sitios y ver su cercanía al ecuador y a la costa.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MarkerCluster verde / rojo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70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Ver qué sitios acumulan más aterrizajes exitosos.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83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MousePosition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764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Leer coordenadas de puntos cercanos directamente en el mapa.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PolyLine + distancia haversine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823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Medir la distancia a la costa, al ferrocarril, a la autopista y a la ciudad.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https://github.com/alessandroxlc/spacex-falcon9-capstone/blob/main/notebooks/06_interactive_map_folium.ipynb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4"/>
              </a:rPr>
              <a:t>GitHub: https://github.com/alessandroxlc/spacex-falcon9-capstone/blob/main/dashboard/spacex_dash_app.py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INTERACTIVE VISUAL ANALYTICS (PLOTLY DASH)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visual interactivo: dashboard con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Desplegable de sitios (dcc.Dropdown)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Filtrar todos los sitios o uno concreto.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033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Gráfico de pastel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2976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Todos: cuota de éxitos por sitio. Un sitio: éxito vs. fallo.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Control de rango (dcc.RangeSlider)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286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Elegir el rango de masa de carga útil (0–10.000 kg).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290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46520" y="3703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Dispersión carga vs. resultado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2976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Ver la relación masa–éxito, coloreada por versión del booster.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https://github.com/alessandroxlc/spacex-falcon9-capstone/blob/main/notebooks/06_interactive_map_folium.ipynb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4"/>
              </a:rPr>
              <a:t>GitHub: https://github.com/alessandroxlc/spacex-falcon9-capstone/blob/main/dashboard/spacex_dash_app.py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PREDICTIVE ANALYSIS (CLASSIFICATION)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predictivo (clasificación)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Cargar X (one-hot)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Y = Class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StandardScaler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train_test_split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80/20, random_state=2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GridSearchCV (cv=10)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LogReg · SVM · Árbol · KNN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Exactitud en prueba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matriz de confusión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Elegir el mejor</a:t>
            </a:r>
          </a:p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https://github.com/alessandroxlc/spacex-falcon9-capstone/blob/main/notebooks/07_machine_learning_prediction.ipynb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results/model_results.json (notebook 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tasa de éxito crece con el número de vuelo y con los años.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Algunas órbitas (SSO, HEO, GEO, ES-L1) tienen 100 % de éxito con pocos vuelos; GTO ronda el 50 %.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19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Analítica interactiva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Todos los sitios están junto a la costa y cerca de infraestructura de transporte.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El dashboard compara sitios y rangos de carga en segundos.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58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Análisis predictivo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8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FFFFFF"/>
                </a:solidFill>
                <a:latin typeface="Calibri"/>
              </a:rPr>
              <a:t>Exactitud en prueba de 94,44 % en 18 lanzamientos.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FFFFFF"/>
                </a:solidFill>
                <a:latin typeface="Calibri"/>
              </a:rPr>
              <a:t>Mejor modelo: Árbol de decisión (mayor exactitud en prueba).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FFFFFF"/>
                </a:solidFill>
                <a:latin typeface="Calibri"/>
              </a:rPr>
              <a:t>En validación cruzada los 4 modelos quedan entre 82 %–85 %.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Hallazgos del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Visualización de datos y consultas SQL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FLIGHT NUMBER VS.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Número de vuelo vs.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18</a:t>
            </a:r>
          </a:p>
        </p:txBody>
      </p:sp>
      <p:pic>
        <p:nvPicPr>
          <p:cNvPr id="5" name="Picture 4" descr="eda_flight_vs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34487"/>
            <a:ext cx="7498079" cy="29376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primeros vuelos, casi todos fallidos, salieron de CCAFS SLC-40.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todos los sitios, los vuelos más recientes aterrizan con más frecuencia.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experiencia acumulada mejora el resultado.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PAYLOAD VS.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19</a:t>
            </a:r>
          </a:p>
        </p:txBody>
      </p:sp>
      <p:pic>
        <p:nvPicPr>
          <p:cNvPr id="5" name="Picture 4" descr="eda_payload_vs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9227"/>
            <a:ext cx="7498079" cy="29081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VAFB SLC-4E no lanza cargas muy pesadas (&gt; 10.000 kg).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Las cargas pesadas salen de Florida y suelen aterrizar con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Por debajo de ~7.000 kg se mezclan éxitos y fallos.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SUCCESS RATE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Tasa de éxito por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results/eda.json (notebook 05)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7498079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ES-L1, GEO, HEO y SSO: 100 % de éxito, pero con muy pocos lanzamientos.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órbita más frecuente es GTO (27 lanzamientos) con 52 % de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GTO, clave para satélites comerciales, es la más difícil.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FLIGHT NUMBER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Número de vuelo vs.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21</a:t>
            </a:r>
          </a:p>
        </p:txBody>
      </p:sp>
      <p:pic>
        <p:nvPicPr>
          <p:cNvPr id="5" name="Picture 4" descr="eda_flight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03865"/>
            <a:ext cx="7498079" cy="33989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LEO, el éxito parece aumentar con el número de vuelo.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GTO no se aprecia relación entre experiencia y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Las órbitas nuevas (VLEO) aparecen en los vuelos más recientes.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PAYLOAD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22</a:t>
            </a:r>
          </a:p>
        </p:txBody>
      </p:sp>
      <p:pic>
        <p:nvPicPr>
          <p:cNvPr id="5" name="Picture 4" descr="eda_payload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22227"/>
            <a:ext cx="7498079" cy="3362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Con cargas pesadas, los aterrizajes exitosos predominan en Polar, LEO e ISS.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GTO se mezclan éxitos y fallos en todo el rango de masa.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VLEO concentra cargas pesadas (constelación Starlink).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LAUNCH SUCCESS YEARLY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Tendencia anual de la tasa de éxito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results/eda.json (notebook 05)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7498079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2010: 0 % de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2020: 84 % de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tasa crece de forma sostenida desde 2013.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1/10 · ALL LAUNCH SITE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Sitios de lanzamiento únicos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DISTINCT Launch_Site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VAFB SLC-4E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KSC LC-39A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CCAFS SLC-40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Hay 4 sitios: dos en Cabo Cañaveral (CCAFS LC-40 y SLC-40), uno en Kennedy (KSC LC-39A) y uno en Vandenberg (VAFB SLC-4E).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2/10 · LAUNCH SITE NAMES BEGIN WITH 'CCA'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Sitios que empiezan por 'CCA'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Date, Booster_Version, Launch_Site,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Payload, PAYLOAD_MASS__KG_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Launch_Site LIKE 'CCA%'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LIMIT 5;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2" cy="23042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2647"/>
                <a:gridCol w="1041501"/>
                <a:gridCol w="796442"/>
                <a:gridCol w="2450591"/>
                <a:gridCol w="116403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PAYLOAD_MASS__KG_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2010-06-04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 B0003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Spacecraft Qualification Unit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2010-12-08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 B0004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demo flight C1, two CubeSats, barrel of Brouere cheese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2012-05-22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 B0005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demo flight C2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525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2012-10-08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 B0006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SpaceX CRS-1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2013-03-01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 B0007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SpaceX CRS-2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677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Los primeros lanzamientos desde Cabo Cañaveral llevaban cápsulas Dragon de prueba y misiones CRS para la NASA.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3/10 · TOTAL PAYLOAD MASS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Masa total de carga NASA (CRS)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SUM(PAYLOAD_MASS__KG_)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Customer = 'NASA (CRS)';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Total_Payload_Mass_kg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45596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Masa total transportada para el programa de reabastecimiento de la NASA (CRS).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4/10 · AVERAGE PAYLOAD MASS BY F9 V1.1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Masa media de carga F9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AVG(PAYLOAD_MASS__KG_)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Booster_Version = 'F9 v1.1';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Avg_Payload_Mass_kg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2928.4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Masa media que transportaba la versión F9 v1.1 del booster.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5/10 · FIRST SUCCESSFUL GROUND LANDING 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Primer aterrizaje exitoso en tierra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MIN(Date)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'Success (ground pad)';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First_Successful_Ground_Landing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2015-12-22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El primer aterrizaje exitoso en tierra llegó más de cinco años después del primer lanzamiento.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6/10 · SUCCESSFUL DRONE SHIP LANDING WITH PAYLOAD BETWEEN 4000 AND 6000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Éxito en barcaza con carga 4.000–6.000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Booster_Version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'Success (drone ship)'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PAYLOAD_MASS__KG_ &gt; 4000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PAYLOAD_MASS__KG_ &lt; 6000;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B1026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 B1021.2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 B1031.2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Boosters de la versión FT que aterrizaron en barcaza con cargas medianas.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7/10 · TOTAL NUMBER OF SUCCESSFUL AND FAILURE MISSION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 de misión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TRIM(Mission_Outcome),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COUNT(*) AS Total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GROUP BY TRIM(Mission_Outcome);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1536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76586"/>
                <a:gridCol w="108862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Mission_Outcome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Failure (in flight)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Success (payload status unclear)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Las misiones casi nunca fallan: el reto real es recuperar el booster.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8/10 · BOOSTERS CARRIED MAXIMUM PAYLOAD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Boosters con la carga máxima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DISTINCT Booster_Version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PAYLOAD_MASS__KG_ = (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SELECT MAX(PAYLOAD_MASS__KG_)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FROM SPACEXTABLE);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38039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64129"/>
                <a:gridCol w="320108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PAYLOAD_MASS__KG_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B1048.4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B1056.4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B1048.5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B1060.2 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B1058.3 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B1060.3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B1049.7 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Los boosters Block 5 son los que transportaron la carga máxima.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9/10 · 2015 LAUNCH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Fallos en barcaza en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substr(Date,6,2) AS Month,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Date, Booster_Version,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Launch_Site, Landing_Outcome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'Failure (drone ship)'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substr(Date,1,4) = '2015';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2" cy="1152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679"/>
                <a:gridCol w="905255"/>
                <a:gridCol w="1538935"/>
                <a:gridCol w="1176832"/>
                <a:gridCol w="181051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Landing_Outcome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2015-01-10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v1.1 B1012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2015-04-14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v1.1 B1015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En 2015 los intentos de aterrizaje en barcaza fallaban: SpaceX aún estaba aprendiendo.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10/10 · RANK LANDING OUTCOMES BETWEEN 2010-06-04 AND 2017-03-20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Ranking de aterrizajes 2010-06-04 a 2017-03-20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results/sql_results.json (notebook 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Landing_Outcome,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COUNT(*) AS Total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Date BETWEEN '2010-06-04'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        AND '2017-03-20'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GROUP BY Landing_Outcome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ORDER BY Total DESC;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26334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01197"/>
                <a:gridCol w="146401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Landing_Outcome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No attempt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Success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Success (ground pad)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Controlled (ocean)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Uncontrolled (ocean)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(parachute)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Precluded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Entre 2010 y 2017 dominan “No attempt” y los intentos en barcaza: era una etapa experimental.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Análisis de proximidad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Mapas interactivos con Folium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ALL LAUNCH SITES ON A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Ubicación de los sitios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35</a:t>
            </a:r>
          </a:p>
        </p:txBody>
      </p:sp>
      <p:pic>
        <p:nvPicPr>
          <p:cNvPr id="5" name="Picture 4" descr="map_launch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7680960" cy="4320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4 sitios están en la costa: 3 en Florida y 1 en California.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Están lo más al sur posible de EE. UU. continental: cerca del ecuador la rotación terrestre ayuda a ganar velocidad.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LAUNCH OUTCOMES BY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 de lanzamiento por sitio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36</a:t>
            </a:r>
          </a:p>
        </p:txBody>
      </p:sp>
      <p:pic>
        <p:nvPicPr>
          <p:cNvPr id="5" name="Picture 4" descr="map_launch_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7680960" cy="4320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Marcadores verdes = aterrizó; rojos = no aterrizó.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clústeres agrupan los lanzamientos de cada sitio.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Mayor tasa de éxito: KSC LC-39A (76,9 %).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PROXIMITIES OF A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Entorno de CCAFS SLC-40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37</a:t>
            </a:r>
          </a:p>
        </p:txBody>
      </p:sp>
      <p:pic>
        <p:nvPicPr>
          <p:cNvPr id="5" name="Picture 4" descr="map_proxim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7680960" cy="4320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Costa (playa): 0,87 km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Ferrocarril (NASA Railroad): 1,28 km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Autopista (Samuel C, Phillips Pkwy): 1,00 km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Ciudad (Titusville): 23,21 km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Cerca de costa, tren y carretera; lejos de las ciudades por seguridad.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Dashboard con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Exploración interactiva de los lanzamientos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LAUNCH SUCCESS COUNT FOR ALL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Éxitos por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39</a:t>
            </a:r>
          </a:p>
        </p:txBody>
      </p:sp>
      <p:pic>
        <p:nvPicPr>
          <p:cNvPr id="5" name="Picture 4" descr="dash_pie_all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83933"/>
            <a:ext cx="7680960" cy="3638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KSC LC-39A aporta la mayor parte de los éxitos (41,7 %).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Cuota de éxitos por sitio sobre el total de aterrizajes exitosos.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LAUNCH SITE WITH HIGHEST SUCCESS RATIO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 con mayor tasa de éxito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40</a:t>
            </a:r>
          </a:p>
        </p:txBody>
      </p:sp>
      <p:pic>
        <p:nvPicPr>
          <p:cNvPr id="5" name="Picture 4" descr="dash_pie_top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83933"/>
            <a:ext cx="7680960" cy="3638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KSC LC-39A es el sitio con mayor tasa de éxito (76,9 %).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10 de 13 lanzamientos aterrizaron.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PAYLOAD VS. LAUNCH OUTCOME (ALL SITES)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resultado: todos los sitios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41</a:t>
            </a:r>
          </a:p>
        </p:txBody>
      </p:sp>
      <p:pic>
        <p:nvPicPr>
          <p:cNvPr id="5" name="Picture 4" descr="dash_scatter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83933"/>
            <a:ext cx="7680960" cy="3638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Versión de booster con mayor tasa de éxito: B5 (100 %, 1 lanzamiento(s)).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Cada color es una versión del booster; arriba aterrizó (1), abajo no (0).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PAYLOAD VS. LAUNCH OUTCOME (RANGE SLIDER)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resultado: 2.000–6.000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42</a:t>
            </a:r>
          </a:p>
        </p:txBody>
      </p:sp>
      <p:pic>
        <p:nvPicPr>
          <p:cNvPr id="5" name="Picture 4" descr="dash_scatter_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83933"/>
            <a:ext cx="7680960" cy="3638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Rango de carga con mayor tasa de éxito: 2k–4k kg (62 %, 21 lanzamientos).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El control deslizante filtra la masa y el gráfico se actualiza al instante.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Análisis predictivo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Clasificación del aterrizaje con machine learning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PREDICTIVE ANALYSIS RESULTS · CLASSIFICATION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Exactitud de clasificación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results/model_results.json (notebook 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676656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1325880"/>
          <a:ext cx="405079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776"/>
                <a:gridCol w="263301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Mejores hiperparámetros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C=1, penalty=l2, solver=lbfgs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SVM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C=1, gamma=0.03162, kernel=sigmoid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Árbol de decisión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criterion=entropy, max_depth=12, max_features=log2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algorithm=auto, n_neighbors=6, p=1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4754880"/>
            <a:ext cx="405079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Mejor modelo: </a:t>
            </a:r>
            <a:r>
              <a:rPr sz="1400" b="0">
                <a:solidFill>
                  <a:srgbClr val="1E293B"/>
                </a:solidFill>
                <a:latin typeface="Calibri"/>
              </a:rPr>
              <a:t>Árbol de decisión (94,44 % en prueba).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Ojo: </a:t>
            </a:r>
            <a:r>
              <a:rPr sz="1400" b="0">
                <a:solidFill>
                  <a:srgbClr val="1E293B"/>
                </a:solidFill>
                <a:latin typeface="Calibri"/>
              </a:rPr>
              <a:t>con 18 casos de prueba, un acierto vale 5,6 puntos; en validación cruzada los 4 modelos quedan entre 82 %–85 %.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PREDICTIVE ANALYSIS RESULTS ·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Matriz de confusión: Árbol de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results/model_results.json (notebook 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258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B1220"/>
                </a:solidFill>
                <a:latin typeface="Calibri"/>
              </a:rPr>
              <a:t>Predicción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45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No aterriza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645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Aterriza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188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4748B"/>
                </a:solidFill>
                <a:latin typeface="Calibri"/>
              </a:rPr>
              <a:t>No aterrizó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188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4748B"/>
                </a:solidFill>
                <a:latin typeface="Calibri"/>
              </a:rPr>
              <a:t>Aterrizó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201168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2860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063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01168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860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D64545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063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64545"/>
                </a:solidFill>
                <a:latin typeface="Calibri"/>
              </a:rPr>
              <a:t>FP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374904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402336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D64545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8006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64545"/>
                </a:solidFill>
                <a:latin typeface="Calibri"/>
              </a:rPr>
              <a:t>FN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374904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49040" y="402336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8006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VP</a:t>
            </a:r>
          </a:p>
        </p:txBody>
      </p:sp>
      <p:sp>
        <p:nvSpPr>
          <p:cNvPr id="23" name="TextBox 22"/>
          <p:cNvSpPr txBox="1"/>
          <p:nvPr/>
        </p:nvSpPr>
        <p:spPr>
          <a:xfrm rot="16200000">
            <a:off x="-1188720" y="35204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B1220"/>
                </a:solidFill>
                <a:latin typeface="Calibri"/>
              </a:rPr>
              <a:t>Valor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691640"/>
            <a:ext cx="4663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Aciertos: </a:t>
            </a:r>
            <a:r>
              <a:rPr sz="1600" b="0">
                <a:solidFill>
                  <a:srgbClr val="1E293B"/>
                </a:solidFill>
                <a:latin typeface="Calibri"/>
              </a:rPr>
              <a:t>17 de 18 lanzamientos (94,44 %).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Verdaderos positivos (VP): </a:t>
            </a:r>
            <a:r>
              <a:rPr sz="1600" b="0">
                <a:solidFill>
                  <a:srgbClr val="1E293B"/>
                </a:solidFill>
                <a:latin typeface="Calibri"/>
              </a:rPr>
              <a:t>12 — aterrizó y el modelo lo predijo.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Verdaderos negativos (VN): </a:t>
            </a:r>
            <a:r>
              <a:rPr sz="1600" b="0">
                <a:solidFill>
                  <a:srgbClr val="1E293B"/>
                </a:solidFill>
                <a:latin typeface="Calibri"/>
              </a:rPr>
              <a:t>5 — no aterrizó y el modelo lo predijo.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Falsos positivos (FP): </a:t>
            </a:r>
            <a:r>
              <a:rPr sz="1600" b="0">
                <a:solidFill>
                  <a:srgbClr val="1E293B"/>
                </a:solidFill>
                <a:latin typeface="Calibri"/>
              </a:rPr>
              <a:t>1 — el modelo predijo aterrizaje y no ocurrió.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Falsos negativos (FN): </a:t>
            </a:r>
            <a:r>
              <a:rPr sz="1600" b="0">
                <a:solidFill>
                  <a:srgbClr val="1E293B"/>
                </a:solidFill>
                <a:latin typeface="Calibri"/>
              </a:rPr>
              <a:t>0 — aterrizó pero el modelo predijo que no.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Lectura: </a:t>
            </a:r>
            <a:r>
              <a:rPr sz="1600" b="0">
                <a:solidFill>
                  <a:srgbClr val="1E293B"/>
                </a:solidFill>
                <a:latin typeface="Calibri"/>
              </a:rPr>
              <a:t>reconoce bien los aterrizajes; le cuesta más identificar los lanzamientos que no aterrizan.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Experiencia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286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Cuantos más vuelos acumula SpaceX, mayor es la tasa de aterrizaje: el éxito crece año tras año desde 2013.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77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Órbita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572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Las órbitas con 100 % de éxito tienen pocas misiones; GTO, la más comercial, es la más difícil.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17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Sitio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286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KSC LC-39A destaca por su tasa de éxito; todos los sitios están en la costa, cerca de infraestructura y lejos de ciudades.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03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977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Predicción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572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El mejor modelo (Árbol de decisión) alcanza 94,44 % de exactitud en prueba. Su error más frecuente es el falso positivo.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Fuente: results/model_results.json (notebook 07)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Diego Laureano · SpaceX Falcon 9 · IBM Data Science Capstone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INNOVATIVE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Ideas innovadoras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533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Más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Añadir los lanzamientos posteriores a 2020: con solo 18 casos de prueba cada acierto vale 5,6 puntos.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Variables nuevas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Meteorología del día del lanzamiento y estado del mar en la zona de la barcaza.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Probabilidades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9834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Calibrar el modelo para estimar la probabilidad de aterrizaje y, con ella, el coste esperado.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13716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3533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Validación temporal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7830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Entrenar con el pasado y probar con el futuro para medir la capacidad real de predicción.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971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953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Interpretabilidad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3832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Explicar cada predicción (importancia de variables, SHAP) para los equipos de negocio.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4572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9834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Publicar el modelo como API y conectarlo al dashboard para simular ofertas en licitaciones.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Apéndice: repositorio y reproducibilidad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Diego Laureano · SpaceX Falcon 9 · IBM Data Science Capstone   48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713232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74620"/>
                <a:gridCol w="44577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Archivo en el repositorio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Recolección con API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notebooks/01_data_collection_api.ipynb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Web scraping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notebooks/02_data_collection_webscraping.ipynb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Data wrangling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notebooks/03_data_wrangling.ipynb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EDA con SQL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notebooks/04_eda_sql.ipynb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EDA con visualización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notebooks/05_eda_visualization.ipynb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Mapas con Folium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notebooks/06_interactive_map_folium.ipynb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Dashboard con Plotly Dash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dashboard/spacex_dash_app.py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notebooks/07_machine_learning_prediction.ipynb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Generador de esta presentación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presentation/generate_presentation.py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325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Reproducir 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7452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pip install -r requirements.txt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Ejecutar los notebooks 01 → 07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python scripts/capture_screenshots.py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python presentation/generate_presentation.py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1206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26B1D"/>
                </a:solidFill>
                <a:latin typeface="Calibri"/>
                <a:hlinkClick r:id="rId3"/>
              </a:rPr>
              <a:t>https://github.com/alessandroxlc/spacex-falcon9-capstone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26B1D"/>
      </a:hlink>
      <a:folHlink>
        <a:srgbClr val="F26B1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