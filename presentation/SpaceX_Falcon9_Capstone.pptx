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Tasa de éxito</c:v>
                </c:pt>
              </c:strCache>
            </c:strRef>
          </c:tx>
          <c:spPr>
            <a:solidFill>
              <a:srgbClr val="F26B1D"/>
            </a:solidFill>
          </c:spPr>
          <c:cat>
            <c:strRef>
              <c:f>Sheet1!$A$2:$A$12</c:f>
              <c:strCache>
                <c:ptCount val="11"/>
                <c:pt idx="0">
                  <c:v>ES-L1</c:v>
                </c:pt>
                <c:pt idx="1">
                  <c:v>GEO</c:v>
                </c:pt>
                <c:pt idx="2">
                  <c:v>HEO</c:v>
                </c:pt>
                <c:pt idx="3">
                  <c:v>SSO</c:v>
                </c:pt>
                <c:pt idx="4">
                  <c:v>VLEO</c:v>
                </c:pt>
                <c:pt idx="5">
                  <c:v>LEO</c:v>
                </c:pt>
                <c:pt idx="6">
                  <c:v>PO</c:v>
                </c:pt>
                <c:pt idx="7">
                  <c:v>MEO</c:v>
                </c:pt>
                <c:pt idx="8">
                  <c:v>ISS</c:v>
                </c:pt>
                <c:pt idx="9">
                  <c:v>GTO</c:v>
                </c:pt>
                <c:pt idx="10">
                  <c:v>SO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0.8571</c:v>
                </c:pt>
                <c:pt idx="5">
                  <c:v>0.7143</c:v>
                </c:pt>
                <c:pt idx="6">
                  <c:v>0.6667</c:v>
                </c:pt>
                <c:pt idx="7">
                  <c:v>0.6667</c:v>
                </c:pt>
                <c:pt idx="8">
                  <c:v>0.619</c:v>
                </c:pt>
                <c:pt idx="9">
                  <c:v>0.5185</c:v>
                </c:pt>
                <c:pt idx="10">
                  <c:v>0.0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1E293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4748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éxito</c:v>
                </c:pt>
              </c:strCache>
            </c:strRef>
          </c:tx>
          <c:spPr>
            <a:ln w="38100">
              <a:solidFill>
                <a:srgbClr val="F26B1D"/>
              </a:solidFill>
            </a:ln>
          </c:spPr>
          <c:marker>
            <c:size val="9"/>
            <c:spPr>
              <a:solidFill>
                <a:srgbClr val="F26B1D"/>
              </a:solidFill>
              <a:ln>
                <a:solidFill>
                  <a:srgbClr val="F26B1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0.3333</c:v>
                </c:pt>
                <c:pt idx="4">
                  <c:v>0.3333</c:v>
                </c:pt>
                <c:pt idx="5">
                  <c:v>0.625</c:v>
                </c:pt>
                <c:pt idx="6">
                  <c:v>0.8333</c:v>
                </c:pt>
                <c:pt idx="7">
                  <c:v>0.6111</c:v>
                </c:pt>
                <c:pt idx="8">
                  <c:v>0.9</c:v>
                </c:pt>
                <c:pt idx="9">
                  <c:v>0.8421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1E293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64748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Validación cruzada</c:v>
                </c:pt>
              </c:strCache>
            </c:strRef>
          </c:tx>
          <c:spPr>
            <a:solidFill>
              <a:srgbClr val="CBD5E1"/>
            </a:solidFill>
          </c:spPr>
          <c:cat>
            <c:strRef>
              <c:f>Sheet1!$A$2:$A$5</c:f>
              <c:strCache>
                <c:ptCount val="4"/>
                <c:pt idx="0">
                  <c:v>Regresión logística</c:v>
                </c:pt>
                <c:pt idx="1">
                  <c:v>SVM</c:v>
                </c:pt>
                <c:pt idx="2">
                  <c:v>Árbol de decisión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0.8214</c:v>
                </c:pt>
                <c:pt idx="1">
                  <c:v>0.8482</c:v>
                </c:pt>
                <c:pt idx="2">
                  <c:v>0.8339</c:v>
                </c:pt>
                <c:pt idx="3">
                  <c:v>0.8339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Prueba</c:v>
                </c:pt>
              </c:strCache>
            </c:strRef>
          </c:tx>
          <c:spPr>
            <a:solidFill>
              <a:srgbClr val="F26B1D"/>
            </a:solidFill>
          </c:spPr>
          <c:cat>
            <c:strRef>
              <c:f>Sheet1!$A$2:$A$5</c:f>
              <c:strCache>
                <c:ptCount val="4"/>
                <c:pt idx="0">
                  <c:v>Regresión logística</c:v>
                </c:pt>
                <c:pt idx="1">
                  <c:v>SVM</c:v>
                </c:pt>
                <c:pt idx="2">
                  <c:v>Árbol de decisión</c:v>
                </c:pt>
                <c:pt idx="3">
                  <c:v>KNN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0.8333</c:v>
                </c:pt>
                <c:pt idx="1">
                  <c:v>0.8333</c:v>
                </c:pt>
                <c:pt idx="2">
                  <c:v>0.9444</c:v>
                </c:pt>
                <c:pt idx="3">
                  <c:v>0.8333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1E293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64748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proyecto final. En una frase: usamos datos públicos de lanzamientos de SpaceX para predecir si la primera etapa del cohete Falcon 9 aterrizará, porque de eso depende el precio de un lanzamiento.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de la presentación siguiendo la estructura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clave: con datos públicos y modelos sencillos se puede anticipar si el booster aterrizará en aproximadamente 8 de cada 10 lanzamientos de prueba. Explicar brevemente las fases de la metodología.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SpaceX anuncia lanzamientos del Falcon 9 por unos 62 millones de dólares; otros proveedores superan los 165 millones. La diferencia se explica porque SpaceX reutiliza la primera etapa. Si sabemos predecir si aterrizará, podemos estimar el coste de un lanzamiento: útil para una empresa que quiera competir con SpaceX en una licitación.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 1: Metodología.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es una tubería de datos completa: obtener datos, limpiarlos, explorarlos, visualizarlos de forma interactiva y finalmente entrenar modelos que predicen el aterrizaje.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fuentes complementarias: la API de SpaceX (datos estructurados en JSON) y la tabla de lanzamientos de Wikipedia (HTML). Ambas se convierten en tablas de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descarga el histórico de lanzamientos, se filtran las misiones simples y se completan los datos consultando los demás endpoints. Al final se queda solo el Falcon 9 y se rellenan las masas que faltan con la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descarga una versión fija de la página de Wikipedia para que el resultado sea reproducible, se buscan las tablas de lanzamientos y se extrae cada fila a un diccionario que luego se convierte en DataFrame.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columna Outcome combina si el aterrizaje tuvo éxito y dónde se intentó. La convertimos en una etiqueta binaria: 1 si aterrizó, 0 si no. Es la variable que el modelo aprenderá a predecir.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gráfico responde una pregunta concreta. Los diagramas de dispersión muestran relaciones entre dos variables, la barra compara tasas entre categorías y la línea muestra la evolución en el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cargó el dataset en una base SQLite y se respondieron diez preguntas con SQL: filtros con WHERE y LIKE, agregaciones con SUM, AVG, MIN y COUNT, agrupaciones con GROUP BY y una subconsulta.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Folium crea mapas interactivos en HTML. Marcamos los sitios, agrupamos los lanzamientos con colores según el resultado y medimos distancias a la costa, el ferrocarril, la autopista y la ciudad más cercana.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dashboard permite explorar los datos sin programar: eliges un sitio y un rango de masa y los gráficos se actualizan solos mediante callbacks.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Proceso estándar de aprendizaje supervisado: estandarizar, separar datos de prueba que el modelo nunca ve, buscar los mejores hiperparámetros con validación cruzada y comparar en el conjunto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Vista previa de los tres bloques de resultados que se detallan a continuación.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 2: Hallazgos del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punto es un lanzamiento. Verde: aterrizó; rojo: no. Hacia la derecha (más experiencia) predomina el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Relación entre la masa de la carga y el sitio. No hay una relación simple: la masa por sí sola no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barra muestra el porcentaje de aterrizajes exitosos en cada órbita. Ojo: algunas órbitas con 100 % tienen solo uno o dos lanzamientos, así que no son concluyentes.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 experiencia y órbita: no todas las órbitas se benefician igual de la experiencia.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algunas órbitas, más masa no impide aterrizar; para GTO la relación no es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línea muestra el porcentaje de aterrizajes exitosos por año. Desde 2013 la tendencia es claramente ascendente: SpaceX aprendió a aterrizar sus cohetes.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1. A la izquierda la consulta, a la derecha el resultado. Idea clave: Hay 4 sitios: dos en Cabo Cañaveral (CCAFS LC-40 y SLC-40), uno en Kennedy (KSC LC-39A) y uno en Vandenberg (VAFB SLC-4E).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2. A la izquierda la consulta, a la derecha el resultado. Idea clave: Los primeros lanzamientos desde Cabo Cañaveral llevaban cápsulas Dragon de prueba y misiones CRS para la NASA.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3. A la izquierda la consulta, a la derecha el resultado. Idea clave: Masa total transportada para el programa de reabastecimiento de la NASA (CRS).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4. A la izquierda la consulta, a la derecha el resultado. Idea clave: Masa media que transportaba la versión F9 v1.1 del booster.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5. A la izquierda la consulta, a la derecha el resultado. Idea clave: El primer aterrizaje exitoso en tierra llegó más de cinco años después del primer lanzamiento.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6. A la izquierda la consulta, a la derecha el resultado. Idea clave: Boosters de la versión FT que aterrizaron en barcaza con cargas medianas.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7. A la izquierda la consulta, a la derecha el resultado. Idea clave: Las misiones casi nunca fallan: el reto real es recuperar el booster.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8. A la izquierda la consulta, a la derecha el resultado. Idea clave: Los boosters Block 5 son los que transportaron la carga máxima.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9. A la izquierda la consulta, a la derecha el resultado. Idea clave: En 2015 los intentos de aterrizaje en barcaza fallaban: SpaceX aún estaba aprendiendo.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SQL 10. A la izquierda la consulta, a la derecha el resultado. Idea clave: Entre 2010 y 2017 dominan “No attempt” y los intentos en barcaza: era una etapa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 3: Análisis de proximidad.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con los cuatro sitios marcados. Señalar que todos están junto al 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marcador es un lanzamiento coloreado según su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Distancias a costa, ferrocarril, autopista y ciudad. El sitio está a muy poca distancia del mar y de las vías de transporte, y lejos de núcleos urbanos.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 4: Dashboard con Plotly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Gráfico de pastel con todos los sitios.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elegir un sitio en el desplegable, el pastel muestra su proporción de éxito y fallo.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Dispersión con todo el rango de masa. Cada color es una versión del booster.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misma dispersión tras reducir el rango de masa con el control deslizante.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 5: Análisis predictivo.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Gris: exactitud media en validación cruzada (dentro del entrenamiento). Naranja: exactitud sobre los lanzamientos de prueba que el modelo nunca vio. Con tan pocos datos de prueba, varios modelos empatan.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matriz compara lo que predijo el modelo con lo que pasó de verdad. La diagonal (verde) son aciertos; fuera de la diagonal están los errores.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las respuestas a las preguntas del inicio. El aprendizaje principal: la experiencia, la órbita y el sitio influyen en el aterrizaje, y un modelo sencillo acierta la gran mayoría de los casos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Propuestas para llevar el proyecto más allá del curso. Son ideas, no resultados: hay que presentarlas como trabajo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Dónde está cada parte del trabajo y cómo reproducirlo.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lessandroxlc/spacex-falcon9-capston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alessandroxlc/spacex-falcon9-capstone/blob/main/notebooks/01_data_collection_api.ipynb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alessandroxlc/spacex-falcon9-capstone/blob/main/notebooks/02_data_collection_webscraping.ipyn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alessandroxlc/spacex-falcon9-capstone/blob/main/notebooks/03_data_wrangling.ipynb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alessandroxlc/spacex-falcon9-capstone/blob/main/notebooks/05_eda_visualization.ipynb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alessandroxlc/spacex-falcon9-capstone/blob/main/notebooks/04_eda_sql.ipynb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alessandroxlc/spacex-falcon9-capstone/blob/main/notebooks/06_interactive_map_folium.ipynb" TargetMode="External"/><Relationship Id="rId4" Type="http://schemas.openxmlformats.org/officeDocument/2006/relationships/hyperlink" Target="https://github.com/alessandroxlc/spacex-falcon9-capstone/blob/main/dashboard/spacex_dash_app.py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alessandroxlc/spacex-falcon9-capstone/blob/main/notebooks/06_interactive_map_folium.ipynb" TargetMode="External"/><Relationship Id="rId4" Type="http://schemas.openxmlformats.org/officeDocument/2006/relationships/hyperlink" Target="https://github.com/alessandroxlc/spacex-falcon9-capstone/blob/main/dashboard/spacex_dash_app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lessandroxlc/spacex-falcon9-capstone/blob/main/notebooks/07_machine_learning_prediction.ipyn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github.com/alessandroxlc/spacex-falcon9-capston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188720"/>
            <a:ext cx="914400" cy="9144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F9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6B1D"/>
                </a:solidFill>
                <a:latin typeface="Calibri"/>
              </a:rP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¿Aterrizará la primera etapa?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Calibri"/>
              </a:rPr>
              <a:t>Predicción del aterrizaje del SpaceX Falcon 9 con ciencia de datos y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alessandroxlc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04/10/2026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26B1D"/>
                </a:solidFill>
                <a:latin typeface="Calibri"/>
                <a:hlinkClick r:id="rId3"/>
              </a:rPr>
              <a:t>Repositorio GitHub: https://github.com/alessandroxlc/spacex-falcon9-capstone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Resumen ejecutivo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Introducción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Metodología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976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Resultados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120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Hallazgos del EDA (visualización y SQL)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15544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544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Análisis de proximidad con Folium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4688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688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Dashboard con Plotly Dash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33832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Análisis predictivo (clasificación)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42976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2976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Conclusiones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521208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1208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Apéndice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results/model_results.json (notebook 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libri"/>
              </a:rPr>
              <a:t>Metodología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6583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Recolección: </a:t>
            </a:r>
            <a:r>
              <a:rPr sz="1600" b="0">
                <a:solidFill>
                  <a:srgbClr val="1E293B"/>
                </a:solidFill>
                <a:latin typeface="Calibri"/>
              </a:rPr>
              <a:t>API REST de SpaceX y web scraping de Wikipedia.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Preparación: </a:t>
            </a:r>
            <a:r>
              <a:rPr sz="1600" b="0">
                <a:solidFill>
                  <a:srgbClr val="1E293B"/>
                </a:solidFill>
                <a:latin typeface="Calibri"/>
              </a:rPr>
              <a:t>limpieza, imputación y etiqueta binaria Class (1 = aterrizó).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EDA: </a:t>
            </a:r>
            <a:r>
              <a:rPr sz="1600" b="0">
                <a:solidFill>
                  <a:srgbClr val="1E293B"/>
                </a:solidFill>
                <a:latin typeface="Calibri"/>
              </a:rPr>
              <a:t>gráficos con Seaborn y 10 consultas SQL.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Analítica interactiva: </a:t>
            </a:r>
            <a:r>
              <a:rPr sz="1600" b="0">
                <a:solidFill>
                  <a:srgbClr val="1E293B"/>
                </a:solidFill>
                <a:latin typeface="Calibri"/>
              </a:rPr>
              <a:t>mapas con Folium y dashboard con Plotly Dash.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Modelado: </a:t>
            </a:r>
            <a:r>
              <a:rPr sz="1600" b="0">
                <a:solidFill>
                  <a:srgbClr val="1E293B"/>
                </a:solidFill>
                <a:latin typeface="Calibri"/>
              </a:rPr>
              <a:t>regresión logística, SVM, árbol de decisión y KNN con GridSearchCV.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25880"/>
            <a:ext cx="4050791" cy="46634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0" y="160020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6B1D"/>
                </a:solidFill>
                <a:latin typeface="Calibri"/>
              </a:rPr>
              <a:t>94,44 %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42316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exactitud en el conjunto de prueba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06324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88620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modelos de clasificación comparados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52628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534924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lanzamientos Falcon 9 analizados (2010–2020)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Introducción: el valor de reutilizar el cohete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 de precios: enunciado del curso IBM Applied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A67A"/>
                </a:solidFill>
                <a:latin typeface="Calibri"/>
              </a:rPr>
              <a:t>62 M$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precio publicado por SpaceX para un Falcon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25880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D64545"/>
                </a:solidFill>
                <a:latin typeface="Calibri"/>
              </a:rPr>
              <a:t>165 M$+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coste habitual de otros proveedores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La diferencia: SpaceX recupera y reutiliza la primera etapa del cohete.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6858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Si el booster aterriza, el lanzamiento es más barato.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Predecir el aterrizaje permite estimar el coste de cada misión.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Una empresa competidora (como la ficticia SpaceY) puede usarlo para preparar sus ofertas.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32588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libri"/>
              </a:rPr>
              <a:t>Preguntas a responder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1965960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2024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¿Qué variables influyen en el éxito del aterrizaje?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2971800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¿Cómo ha evolucionado la tasa de éxito con los años?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3977640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319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¿Influye la ubicación del sitio de lanzamiento?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983480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9377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¿Con qué exactitud podemos predecir el resultado?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2194560"/>
            <a:ext cx="1097280" cy="10972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Cómo se obtuvieron, prepararon y analizaron los 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Resumen de la 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69164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074420" y="2377440"/>
            <a:ext cx="640080" cy="6400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Calibri"/>
              </a:rPr>
              <a:t>Recolección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1417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</a:rPr>
              <a:t>API REST de SpaceX y web scraping de Wikipedia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.0" y="2697480"/>
            <a:ext cx="134051.0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9195" y="2057400"/>
            <a:ext cx="169164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954975" y="2377440"/>
            <a:ext cx="640080" cy="6400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635" y="32461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Calibri"/>
              </a:rPr>
              <a:t>Wrangling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6355" y="3794760"/>
            <a:ext cx="1417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</a:rPr>
              <a:t>Limpieza, imputación de nulos y etiqueta Class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48267.0" y="2697480"/>
            <a:ext cx="134051.0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9750" y="2057400"/>
            <a:ext cx="169164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835530" y="2377440"/>
            <a:ext cx="640080" cy="6400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1190" y="32461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Calibri"/>
              </a:rPr>
              <a:t>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6910" y="3794760"/>
            <a:ext cx="1417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</a:rPr>
              <a:t>Visualización (Seaborn) y consultas SQL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28822.0" y="2697480"/>
            <a:ext cx="134051.0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0305" y="2057400"/>
            <a:ext cx="169164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716085" y="2377440"/>
            <a:ext cx="640080" cy="6400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745" y="32461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Calibri"/>
              </a:rPr>
              <a:t>Mapas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465" y="3794760"/>
            <a:ext cx="1417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</a:rPr>
              <a:t>Análisis geoespacial con Folium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9377.0" y="2697480"/>
            <a:ext cx="134051.0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70860" y="2057400"/>
            <a:ext cx="169164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596640" y="2377440"/>
            <a:ext cx="640080" cy="6400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2300" y="32461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Calibr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8020" y="3794760"/>
            <a:ext cx="1417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</a:rPr>
              <a:t>Aplicación interactiva con Plotly Dash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89932.0" y="2697480"/>
            <a:ext cx="134051.0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51415" y="2057400"/>
            <a:ext cx="169164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0477195" y="2377440"/>
            <a:ext cx="640080" cy="6400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2855" y="32461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Calibri"/>
              </a:rPr>
              <a:t>Modelado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8575" y="3794760"/>
            <a:ext cx="1417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</a:rPr>
              <a:t>4 clasificadores + GridSearchCV + evaluación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Herramientas: Python · pandas · NumPy · requests · BeautifulSoup · SQLite · Matplotlib · Seaborn · Folium · Plotly Dash · scikit-learn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Recolección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4023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1220"/>
                </a:solidFill>
                <a:latin typeface="Calibri"/>
              </a:rPr>
              <a:t>SpaceX REST API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Endpoints: launches, rockets, launchpads, payloads y cores.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Respuesta en JSON → pd.json_normalize.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Resultado: data/dataset_part_1.csv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83080"/>
            <a:ext cx="4023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1220"/>
                </a:solidFill>
                <a:latin typeface="Calibri"/>
              </a:rPr>
              <a:t>Web scraping (Wikipedia)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Página “List of Falcon 9 and Falcon Heavy launches”.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requests + BeautifulSoup sobre las tablas HTML.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Resultado: data/spacex_web_scraped.csv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Ambas fuentes se unifican en un dataset de un lanzamiento por fila, con variables de la misión (fecha, booster, carga, órbita, sitio) y el resultado del aterrizaje.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DATA COLLECTION – SPACEX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Recopilación de datos: API de SpaceX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GET /launches/past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(copia estática del curso)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.0" y="23088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95647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24247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327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pd.json_normalize()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41767.5" y="23088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42655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671255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1335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Filtrar 1 núcleo, 1 carga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y fecha ≤ 13-11-2020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42855.0" y="3017520"/>
            <a:ext cx="0.0" cy="64008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42655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671255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335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Resolver IDs en /rockets,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/launchpads, /payloads, /cores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741767.5" y="43662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95647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724247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4327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Filtrar Falcon 9 e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imputar PayloadMass (media)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94760.0" y="43662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dataset_part_1.csv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https://github.com/alessandroxlc/spacex-falcon9-capstone/blob/main/notebooks/01_data_collection_api.ipynb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DATA COLLECTION – SCRAPING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Recopilación de datos: web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requests.get(URL de Wikipedia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oldid=1027686922)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.0" y="23088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95647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24247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327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BeautifulSoup(html)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41767.5" y="23088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42655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671255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1335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find_all('table',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'wikitable plainrowheaders')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42855.0" y="3017520"/>
            <a:ext cx="0.0" cy="64008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42655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671255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335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Extraer nombres de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columna (&lt;th&gt;)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741767.5" y="43662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95647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724247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4327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Recorrer filas y limpiar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celdas (fecha, booster, masa…)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94760.0" y="43662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spacex_web_scraped.csv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https://github.com/alessandroxlc/spacex-falcon9-capstone/blob/main/notebooks/02_data_collection_webscraping.ipynb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DATA WRANGLING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Metodología de limpieza de datos (data wrangling)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Tasa global de éxito tras el wrangling: 66,7 %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Exploración: </a:t>
            </a:r>
            <a:r>
              <a:rPr sz="1600" b="0">
                <a:solidFill>
                  <a:srgbClr val="1E293B"/>
                </a:solidFill>
                <a:latin typeface="Calibri"/>
              </a:rPr>
              <a:t>porcentaje de nulos, tipos de dato y recuentos por sitio y órbita.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Nulos: </a:t>
            </a:r>
            <a:r>
              <a:rPr sz="1600" b="0">
                <a:solidFill>
                  <a:srgbClr val="1E293B"/>
                </a:solidFill>
                <a:latin typeface="Calibri"/>
              </a:rPr>
              <a:t>PayloadMass se imputa con la media; LandingPad se conserva (nulo = sin plataforma).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Etiqueta: </a:t>
            </a:r>
            <a:r>
              <a:rPr sz="1600" b="0">
                <a:solidFill>
                  <a:srgbClr val="1E293B"/>
                </a:solidFill>
                <a:latin typeface="Calibri"/>
              </a:rPr>
              <a:t>Class = 1 si Outcome empieza por “True”; 0 en cualquier otro caso.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Salida: </a:t>
            </a:r>
            <a:r>
              <a:rPr sz="1600" b="0">
                <a:solidFill>
                  <a:srgbClr val="1E293B"/>
                </a:solidFill>
                <a:latin typeface="Calibri"/>
              </a:rPr>
              <a:t>data/dataset_part_2.csv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https://github.com/alessandroxlc/spacex-falcon9-capstone/blob/main/notebooks/03_data_wrangling.ipynb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325880"/>
          <a:ext cx="560527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8967"/>
                <a:gridCol w="2893043"/>
                <a:gridCol w="7232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True ASDS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Aterrizó en barcaza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True RTLS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Aterrizó en tierra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True Ocean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Descenso controlado al océano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False ASDS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Falló en barcaza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False RTLS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Falló en tierra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False Ocean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Falló sobre el océano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None None / None ASDS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Sin intento de aterrizaje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EDA WITH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EDA con visualización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3712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6067"/>
                <a:gridCol w="3354125"/>
                <a:gridCol w="5934221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Gráfico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Dispersión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N.º de vuelo vs. sitio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¿Mejora el éxito con la experiencia en cada sitio?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Dispersión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Carga útil vs. sitio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¿Hay sitios para cargas pesadas?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Barras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Tasa de éxito por órbita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¿Qué órbitas son más fáciles?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Dispersión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N.º de vuelo vs. órbita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¿Cambia la relación con la experiencia según la órbita?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Dispersión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Carga útil vs. órbita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¿Influye la masa según la órbita?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Tasa de éxito por año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¿Cuál es la tendencia en el tiempo?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Después se aplica One-Hot Encoding a Orbit, LaunchSite, LandingPad y Serial → dataset_part_3.csv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https://github.com/alessandroxlc/spacex-falcon9-capstone/blob/main/notebooks/05_eda_visualization.ipynb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EDA WITH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EDA con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Sitios de lanzamiento únicos (DISTINCT)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2199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5 registros de sitios que empiezan por 'CCA' (LIKE)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26664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2666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Masa total para NASA (CRS) (SUM)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3133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Masa media del booster F9 v1.1 (AVG)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3600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Primer aterrizaje exitoso en tierra (MIN)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1732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Éxito en barcaza con carga 4.000–6.000 kg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2221992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2199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Misiones exitosas y fallidas (GROUP BY)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3026664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02666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Boosters con la carga máxima (subconsulta)</a:t>
            </a:r>
          </a:p>
        </p:txBody>
      </p:sp>
      <p:sp>
        <p:nvSpPr>
          <p:cNvPr id="21" name="Oval 20"/>
          <p:cNvSpPr/>
          <p:nvPr/>
        </p:nvSpPr>
        <p:spPr>
          <a:xfrm>
            <a:off x="6172200" y="3831336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83133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Fallos en barcaza en 2015 (substr)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4636008"/>
            <a:ext cx="457200" cy="45720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63600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Ranking de aterrizajes 2010–2017 (ORDER BY)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https://github.com/alessandroxlc/spacex-falcon9-capstone/blob/main/notebooks/04_eda_sql.ipynb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INTERACTIVE VISUAL ANALYTICS (FOLIUM)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Análisis visual interactivo: mapa con Folium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Círculos y etiquetas (folium.Circle, DivIcon)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647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Ubicar los 4 sitios y ver su cercanía al ecuador y a la costa.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MarkerCluster verde / rojo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70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Ver qué sitios acumulan más aterrizajes exitosos.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MousePosition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764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Leer coordenadas de puntos cercanos directamente en el mapa.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PolyLine + distancia haversine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823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Medir la distancia a la costa, al ferrocarril, a la autopista y a la ciudad.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https://github.com/alessandroxlc/spacex-falcon9-capstone/blob/main/notebooks/06_interactive_map_folium.ipynb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4"/>
              </a:rPr>
              <a:t>GitHub: https://github.com/alessandroxlc/spacex-falcon9-capstone/blob/main/dashboard/spacex_dash_app.py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INTERACTIVE VISUAL ANALYTICS (PLOTLY DASH)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Análisis visual interactivo: dashboard con Plotly Dash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9164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Desplegable de sitios (dcc.Dropdown)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8600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Filtrar todos los sitios o uno concreto.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0332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Gráfico de pastel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29768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Todos: cuota de éxitos por sitio. Un sitio: éxito vs. fallo.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9164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Control de rango (dcc.RangeSlider)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8600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Elegir el rango de masa de carga útil (0–10.000 kg).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46520" y="370332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0332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Dispersión carga vs. 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9768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Ver la relación masa–éxito, coloreada por versión del booster.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https://github.com/alessandroxlc/spacex-falcon9-capstone/blob/main/notebooks/06_interactive_map_folium.ipynb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4"/>
              </a:rPr>
              <a:t>GitHub: https://github.com/alessandroxlc/spacex-falcon9-capstone/blob/main/dashboard/spacex_dash_app.py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METHODOLOGY · PREDICTIVE ANALYSIS (CLASSIFICATION)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Análisis predictivo (clasificación)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Cargar X (one-hot)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y Y = Class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.0" y="23088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95647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24247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327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StandardScaler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41767.5" y="23088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42655" y="16459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671255" y="20574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1335" y="16459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train_test_split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80/20, random_state=2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42855.0" y="3017520"/>
            <a:ext cx="0.0" cy="64008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42655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671255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335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GridSearchCV (cv=10)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LogReg · SVM · Árbol · KNN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741767.5" y="43662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95647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724247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4327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Exactitud en prueba</a:t>
            </a:r>
          </a:p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y matriz de confusión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94760.0" y="4366260"/>
            <a:ext cx="655167.5" cy="0"/>
          </a:xfrm>
          <a:prstGeom prst="line">
            <a:avLst/>
          </a:prstGeom>
          <a:ln w="254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370332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703320"/>
            <a:ext cx="21945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Elegir el mejor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6B1D"/>
                </a:solidFill>
                <a:latin typeface="Calibri"/>
                <a:hlinkClick r:id="rId3"/>
              </a:rPr>
              <a:t>GitHub: https://github.com/alessandroxlc/spacex-falcon9-capstone/blob/main/notebooks/07_machine_learning_prediction.ipynb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results/model_results.json (notebook 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02152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libri"/>
              </a:rPr>
              <a:t>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926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La tasa de éxito crece con el número de vuelo y con los años.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Algunas órbitas (SSO, HEO, GEO, ES-L1) tienen 100 % de éxito con pocos vuelos; GTO ronda el 50 %.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25880"/>
            <a:ext cx="3502152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19" y="16459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libri"/>
              </a:rPr>
              <a:t>Analítica interactiva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331720"/>
            <a:ext cx="2926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Todos los sitios están junto a la costa y cerca de infraestructura de transporte.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El dashboard compara sitios y rangos de carga en segundos.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325880"/>
            <a:ext cx="3502152" cy="448056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66758" y="16459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6B1D"/>
                </a:solidFill>
                <a:latin typeface="Calibri"/>
              </a:rPr>
              <a:t>Análisis predictivo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8" y="2331720"/>
            <a:ext cx="2926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Exactitud en prueba de 94,44 % en 18 lanzamientos.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Mejor modelo: Árbol de decisión (desempate por validación cruzada).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2194560"/>
            <a:ext cx="1097280" cy="10972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Hallazgos del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Visualización de datos y consultas SQL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RESULTS · FLIGHT NUMBER VS. LAUNCH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Número de vuelo vs. sitio de lanzamiento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18</a:t>
            </a:r>
          </a:p>
        </p:txBody>
      </p:sp>
      <p:pic>
        <p:nvPicPr>
          <p:cNvPr id="5" name="Picture 4" descr="eda_flight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34487"/>
            <a:ext cx="7498079" cy="2937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00200"/>
            <a:ext cx="3200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Los primeros vuelos, casi todos fallidos, salieron de CCAFS SLC-40.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En todos los sitios, los vuelos más recientes aterrizan con más frecuencia.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La experiencia acumulada mejora el resultado.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RESULTS · PAYLOAD VS. LAUNCH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Carga útil vs. sitio de lanzamiento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19</a:t>
            </a:r>
          </a:p>
        </p:txBody>
      </p:sp>
      <p:pic>
        <p:nvPicPr>
          <p:cNvPr id="5" name="Picture 4" descr="eda_payload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9227"/>
            <a:ext cx="7498079" cy="29081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00200"/>
            <a:ext cx="3200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VAFB SLC-4E no lanza cargas muy pesadas (&gt; 10.000 kg).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Las cargas pesadas salen de Florida y suelen aterrizar con éxito.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Por debajo de ~7.000 kg se mezclan éxitos y fallos.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RESULTS · SUCCESS RATE VS. ORBIT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Tasa de éxito por tipo de órbita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results/eda.json (notebook 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25880"/>
          <a:ext cx="7498079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600200"/>
            <a:ext cx="3200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ES-L1, GEO, HEO y SSO: 100 % de éxito, pero con muy pocos lanzamientos.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La órbita más frecuente es GTO (27 lanzamientos) con 52 % de éxito.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GTO, clave para satélites comerciales, es la más difícil.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RESULTS · FLIGHT NUMBER VS. ORBIT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Número de vuelo vs. tipo de órbita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21</a:t>
            </a:r>
          </a:p>
        </p:txBody>
      </p:sp>
      <p:pic>
        <p:nvPicPr>
          <p:cNvPr id="5" name="Picture 4" descr="eda_flight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03865"/>
            <a:ext cx="7498079" cy="33989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00200"/>
            <a:ext cx="3200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En LEO, el éxito parece aumentar con el número de vuelo.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En GTO no se aprecia relación entre experiencia y éxito.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Las órbitas nuevas (VLEO) aparecen en los vuelos más recientes.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RESULTS · PAYLOAD VS. ORBIT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Carga útil vs. tipo de órbita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22</a:t>
            </a:r>
          </a:p>
        </p:txBody>
      </p:sp>
      <p:pic>
        <p:nvPicPr>
          <p:cNvPr id="5" name="Picture 4" descr="eda_payload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22227"/>
            <a:ext cx="7498079" cy="33621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00200"/>
            <a:ext cx="3200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Con cargas pesadas, los aterrizajes exitosos predominan en Polar, LEO e ISS.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En GTO se mezclan éxitos y fallos en todo el rango de masa.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VLEO concentra cargas pesadas (constelación Starlink).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RESULTS · LAUNCH SUCCESS YEARLY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Tendencia anual de la tasa de éxito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results/eda.json (notebook 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25880"/>
          <a:ext cx="7498079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600200"/>
            <a:ext cx="3200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2010: 0 % de éxito.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2020: 84 % de éxito.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La tasa crece de forma sostenida desde 2013.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1/10 · ALL LAUNCH SITE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Sitios de lanzamiento únicos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DISTINCT Launch_Site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5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21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Launch_Site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VAFB SLC-4E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KSC LC-39A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CCAFS SLC-40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Hay 4 sitios: dos en Cabo Cañaveral (CCAFS LC-40 y SLC-40), uno en Kennedy (KSC LC-39A) y uno en Vandenberg (VAFB SLC-4E).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2/10 · LAUNCH SITE NAMES BEGIN WITH 'CCA'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Sitios que empiezan por 'CCA'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Date, Booster_Version, Launch_Site,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 Payload, PAYLOAD_MASS__KG_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Launch_Site LIKE 'CCA%'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LIMIT 5;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2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647"/>
                <a:gridCol w="1041501"/>
                <a:gridCol w="796442"/>
                <a:gridCol w="2450591"/>
                <a:gridCol w="116403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Booster_Version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Launch_Site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PAYLOAD_MASS__KG_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2010-06-04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v1.0  B0003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Dragon Spacecraft Qualification Unit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2010-12-08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v1.0  B0004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Dragon demo flight C1, two CubeSats, barrel of Brouere cheese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2012-05-22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v1.0  B0005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Dragon demo flight C2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525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2012-10-08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v1.0  B0006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SpaceX CRS-1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2013-03-01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v1.0  B0007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SpaceX CRS-2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677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Los primeros lanzamientos desde Cabo Cañaveral llevaban cápsulas Dragon de prueba y misiones CRS para la NASA.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3/10 · TOTAL PAYLOAD MASS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Masa total de carga NASA (CRS)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SUM(PAYLOAD_MASS__KG_)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Customer = 'NASA (CRS)';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5" cy="768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21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Total_Payload_Mass_kg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45596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Masa total transportada para el programa de reabastecimiento de la NASA (CRS).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4/10 · AVERAGE PAYLOAD MASS BY F9 V1.1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Masa media de carga F9 v1.1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AVG(PAYLOAD_MASS__KG_)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Booster_Version = 'F9 v1.1';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5" cy="768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21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Avg_Payload_Mass_kg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2928.4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Masa media que transportaba la versión F9 v1.1 del booster.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5/10 · FIRST SUCCESSFUL GROUND LANDING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Primer aterrizaje exitoso en tierra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MIN(Date)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Landing_Outcome =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'Success (ground pad)';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5" cy="768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21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First_Successful_Ground_Landing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2015-12-22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El primer aterrizaje exitoso en tierra llegó más de cinco años después del primer lanzamiento.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6/10 · SUCCESSFUL DRONE SHIP LANDING WITH PAYLOAD BETWEEN 4000 AND 6000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Éxito en barcaza con carga 4.000–6.000 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Booster_Version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Landing_Outcome =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'Success (drone ship)'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AND PAYLOAD_MASS__KG_ &gt; 4000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AND PAYLOAD_MASS__KG_ &lt; 6000;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5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21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Booster_Version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F9 FT B1022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F9 FT B1026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F9 FT  B1021.2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F9 FT  B1031.2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Boosters de la versión FT que aterrizaron en barcaza con cargas medianas.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7/10 · TOTAL NUMBER OF SUCCESSFUL AND FAILURE MISSION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Resultados de misión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TRIM(Mission_Outcome),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 COUNT(*) AS Total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GROUP BY TRIM(Mission_Outcome);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4" cy="1536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6586"/>
                <a:gridCol w="108862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Mission_Outcome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Failure (in flight)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Success (payload status unclear)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Las misiones casi nunca fallan: el reto real es recuperar el booster.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8/10 · BOOSTERS CARRIED MAXIMUM PAYLOAD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Boosters con la carga máxima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DISTINCT Booster_Version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PAYLOAD_MASS__KG_ = (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SELECT MAX(PAYLOAD_MASS__KG_)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FROM SPACEXTABLE);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4" cy="3803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4129"/>
                <a:gridCol w="320108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Booster_Version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PAYLOAD_MASS__KG_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B1048.4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B1049.4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B1051.3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B1056.4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B1048.5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B1051.4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B1049.5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B1060.2 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B1058.3 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B1051.6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B1060.3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B5 B1049.7 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Los boosters Block 5 son los que transportaron la carga máxima.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9/10 · 2015 LAUNCH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Fallos en barcaza en 2015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substr(Date,6,2) AS Month,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 Date, Booster_Version,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 Launch_Site, Landing_Outcome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Landing_Outcome =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'Failure (drone ship)'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AND substr(Date,1,4) = '2015';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2" cy="1152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679"/>
                <a:gridCol w="905255"/>
                <a:gridCol w="1538935"/>
                <a:gridCol w="1176832"/>
                <a:gridCol w="181051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Booster_Version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Launch_Site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Landing_Outcome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2015-01-10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v1.1 B1012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Failure (drone ship)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2015-04-14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F9 v1.1 B1015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Failure (drone ship)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En 2015 los intentos de aterrizaje en barcaza fallaban: SpaceX aún estaba aprendiendo.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EDA WITH SQL RESULTS · QUERY 10/10 · RANK LANDING OUTCOMES BETWEEN 2010-06-04 AND 2017-03-20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Ranking de aterrizajes 2010-06-04 a 2017-03-20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results/sql_results.json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SELECT Landing_Outcome,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 COUNT(*) AS Total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FROM SPACEXTABLE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WHERE Date BETWEEN '2010-06-04'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               AND '2017-03-20'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GROUP BY Landing_Outcome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ORDER BY Total DESC;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691640"/>
          <a:ext cx="6065214" cy="26334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1197"/>
                <a:gridCol w="1464017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Landing_Outcome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No attempt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Success (drone ship)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Failure (drone ship)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Success (ground pad)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Controlled (ocean)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Uncontrolled (ocean)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Failure (parachute)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Precluded (drone ship)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46634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Entre 2010 y 2017 dominan “No attempt” y los intentos en barcaza: era una etapa experimental.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2194560"/>
            <a:ext cx="1097280" cy="10972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Análisis de proximidad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Mapas interactivos con Folium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LAUNCH SITES PROXIMITIES ANALYSIS · ALL LAUNCH SITES ON A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Ubicación de los sitios de lanzamiento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35</a:t>
            </a:r>
          </a:p>
        </p:txBody>
      </p:sp>
      <p:pic>
        <p:nvPicPr>
          <p:cNvPr id="5" name="Picture 4" descr="map_launch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050"/>
            <a:ext cx="7680960" cy="4320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600200"/>
            <a:ext cx="30449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Los 4 sitios están en la costa: 3 en Florida y 1 en California.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Están lo más al sur posible de EE. UU. continental: cerca del ecuador la rotación terrestre ayuda a ganar velocidad.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LAUNCH SITES PROXIMITIES ANALYSIS · LAUNCH OUTCOMES BY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Resultados de lanzamiento por sitio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36</a:t>
            </a:r>
          </a:p>
        </p:txBody>
      </p:sp>
      <p:pic>
        <p:nvPicPr>
          <p:cNvPr id="5" name="Picture 4" descr="map_launch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050"/>
            <a:ext cx="7680960" cy="4320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600200"/>
            <a:ext cx="30449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Marcadores verdes = aterrizó; rojos = no aterrizó.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Los clústeres agrupan los lanzamientos de cada sitio.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Mayor tasa de éxito: KSC LC-39A (76,9 %).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LAUNCH SITES PROXIMITIES ANALYSIS · PROXIMITIES OF A LAUNCH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Entorno de CCAFS SLC-40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37</a:t>
            </a:r>
          </a:p>
        </p:txBody>
      </p:sp>
      <p:pic>
        <p:nvPicPr>
          <p:cNvPr id="5" name="Picture 4" descr="map_proxim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050"/>
            <a:ext cx="7680960" cy="4320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600200"/>
            <a:ext cx="30449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Costa (playa): 0,87 km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Ferrocarril (NASA Railroad): 1,28 km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Autopista (Samuel C, Phillips Pkwy): 1,00 km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Ciudad (Titusville): 23,21 km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Cerca de costa, tren y carretera; lejos de las ciudades por seguridad.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2194560"/>
            <a:ext cx="1097280" cy="10972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Dashboard con Plotly Dash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Exploración interactiva de los lanzamientos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PLOTLY DASH DASHBOARD · LAUNCH SUCCESS COUNT FOR ALL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Éxitos por sitio de lanzamiento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39</a:t>
            </a:r>
          </a:p>
        </p:txBody>
      </p:sp>
      <p:pic>
        <p:nvPicPr>
          <p:cNvPr id="5" name="Picture 4" descr="dash_pie_all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3933"/>
            <a:ext cx="7680960" cy="3638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600200"/>
            <a:ext cx="30449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KSC LC-39A aporta la mayor parte de los éxitos (41,7 %).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Cuota de éxitos por sitio sobre el total de aterrizajes exitosos.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PLOTLY DASH DASHBOARD · LAUNCH SITE WITH HIGHEST SUCCESS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Sitio con mayor tasa de éxito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40</a:t>
            </a:r>
          </a:p>
        </p:txBody>
      </p:sp>
      <p:pic>
        <p:nvPicPr>
          <p:cNvPr id="5" name="Picture 4" descr="dash_pie_top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3933"/>
            <a:ext cx="7680960" cy="3638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600200"/>
            <a:ext cx="30449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KSC LC-39A es el sitio con mayor tasa de éxito (76,9 %).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10 de 13 lanzamientos aterrizaron.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PLOTLY DASH DASHBOARD · PAYLOAD VS. LAUNCH OUTCOME (ALL SITES)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Carga útil vs. resultado: todos los sitios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41</a:t>
            </a:r>
          </a:p>
        </p:txBody>
      </p:sp>
      <p:pic>
        <p:nvPicPr>
          <p:cNvPr id="5" name="Picture 4" descr="dash_scatter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3933"/>
            <a:ext cx="7680960" cy="3638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600200"/>
            <a:ext cx="30449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Versión de booster con mayor tasa de éxito: B5 (100 %).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Cada color es una versión del booster; arriba aterrizó (1), abajo no (0).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PLOTLY DASH DASHBOARD · PAYLOAD VS. LAUNCH OUTCOME (RANGE SLIDER)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Carga útil vs. resultado: 2.000–6.000 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42</a:t>
            </a:r>
          </a:p>
        </p:txBody>
      </p:sp>
      <p:pic>
        <p:nvPicPr>
          <p:cNvPr id="5" name="Picture 4" descr="dash_scatter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3933"/>
            <a:ext cx="7680960" cy="3638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600200"/>
            <a:ext cx="30449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Rango de carga con mayor tasa de éxito: 2k–4k kg (62 %).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0">
                <a:solidFill>
                  <a:srgbClr val="1E293B"/>
                </a:solidFill>
                <a:latin typeface="Calibri"/>
              </a:rPr>
              <a:t>El control deslizante filtra la masa y el gráfico se actualiza al instante.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2194560"/>
            <a:ext cx="1097280" cy="109728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Análisis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Clasificación del aterrizaje con machine learning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PREDICTIVE ANALYSIS RESULTS · CLASSIFICATION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Exactitud de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results/model_results.json (notebook 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25880"/>
          <a:ext cx="67665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325880"/>
          <a:ext cx="405079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776"/>
                <a:gridCol w="263301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Mejores hiperparámetros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Regresión logística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C=1, penalty=l2, solver=lbfgs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C=1, gamma=0.03162, kernel=sigmoid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Árbol de decisión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criterion=entropy, max_depth=12, max_features=log2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algorithm=auto, n_neighbors=6, p=1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4754880"/>
            <a:ext cx="4050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400" b="1">
                <a:solidFill>
                  <a:srgbClr val="1E293B"/>
                </a:solidFill>
                <a:latin typeface="Calibri"/>
              </a:rPr>
              <a:t>Mejor modelo: </a:t>
            </a:r>
            <a:r>
              <a:rPr sz="1400" b="0">
                <a:solidFill>
                  <a:srgbClr val="1E293B"/>
                </a:solidFill>
                <a:latin typeface="Calibri"/>
              </a:rPr>
              <a:t>Árbol de decisión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400" b="1">
                <a:solidFill>
                  <a:srgbClr val="1E293B"/>
                </a:solidFill>
                <a:latin typeface="Calibri"/>
              </a:rPr>
              <a:t>Criterio: </a:t>
            </a:r>
            <a:r>
              <a:rPr sz="1400" b="0">
                <a:solidFill>
                  <a:srgbClr val="1E293B"/>
                </a:solidFill>
                <a:latin typeface="Calibri"/>
              </a:rPr>
              <a:t>mayor exactitud en prueba y, en empate, en validación cruzada.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PREDICTIVE ANALYSIS RESULTS ·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Matriz de confusión: Árbol de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Fuente: results/model_results.json (notebook 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258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1220"/>
                </a:solidFill>
                <a:latin typeface="Calibri"/>
              </a:rPr>
              <a:t>Predicción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No aterriza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6459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Aterriza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1887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4748B"/>
                </a:solidFill>
                <a:latin typeface="Calibri"/>
              </a:rPr>
              <a:t>No aterrizó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1887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4748B"/>
                </a:solidFill>
                <a:latin typeface="Calibri"/>
              </a:rPr>
              <a:t>Aterrizó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11680" y="22860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632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01168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49040" y="228600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D64545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0632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64545"/>
                </a:solidFill>
                <a:latin typeface="Calibri"/>
              </a:rPr>
              <a:t>FP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374904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1680" y="402336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D64545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006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64545"/>
                </a:solidFill>
                <a:latin typeface="Calibri"/>
              </a:rPr>
              <a:t>FN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74904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49040" y="402336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8006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VP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-1188720" y="35204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1220"/>
                </a:solidFill>
                <a:latin typeface="Calibri"/>
              </a:rPr>
              <a:t>Valor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691640"/>
            <a:ext cx="4663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Aciertos: </a:t>
            </a:r>
            <a:r>
              <a:rPr sz="1600" b="0">
                <a:solidFill>
                  <a:srgbClr val="1E293B"/>
                </a:solidFill>
                <a:latin typeface="Calibri"/>
              </a:rPr>
              <a:t>17 de 18 lanzamientos (94,44 %).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Verdaderos positivos (VP): </a:t>
            </a:r>
            <a:r>
              <a:rPr sz="1600" b="0">
                <a:solidFill>
                  <a:srgbClr val="1E293B"/>
                </a:solidFill>
                <a:latin typeface="Calibri"/>
              </a:rPr>
              <a:t>12 — aterrizó y el modelo lo predijo.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Verdaderos negativos (VN): </a:t>
            </a:r>
            <a:r>
              <a:rPr sz="1600" b="0">
                <a:solidFill>
                  <a:srgbClr val="1E293B"/>
                </a:solidFill>
                <a:latin typeface="Calibri"/>
              </a:rPr>
              <a:t>5 — no aterrizó y el modelo lo predijo.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Falsos positivos (FP): </a:t>
            </a:r>
            <a:r>
              <a:rPr sz="1600" b="0">
                <a:solidFill>
                  <a:srgbClr val="1E293B"/>
                </a:solidFill>
                <a:latin typeface="Calibri"/>
              </a:rPr>
              <a:t>1 — el modelo predijo aterrizaje y no ocurrió.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Falsos negativos (FN): </a:t>
            </a:r>
            <a:r>
              <a:rPr sz="1600" b="0">
                <a:solidFill>
                  <a:srgbClr val="1E293B"/>
                </a:solidFill>
                <a:latin typeface="Calibri"/>
              </a:rPr>
              <a:t>0 — aterrizó pero el modelo predijo que no.</a:t>
            </a:r>
          </a:p>
          <a:p>
            <a:pPr marL="274320" indent="-274320">
              <a:spcAft>
                <a:spcPts val="1400"/>
              </a:spcAft>
              <a:buClr>
                <a:srgbClr val="F26B1D"/>
              </a:buClr>
              <a:buFont typeface="Arial"/>
              <a:buChar char="•"/>
            </a:pPr>
            <a:r>
              <a:rPr sz="1600" b="1">
                <a:solidFill>
                  <a:srgbClr val="1E293B"/>
                </a:solidFill>
                <a:latin typeface="Calibri"/>
              </a:rPr>
              <a:t>Lectura: </a:t>
            </a:r>
            <a:r>
              <a:rPr sz="1600" b="0">
                <a:solidFill>
                  <a:srgbClr val="1E293B"/>
                </a:solidFill>
                <a:latin typeface="Calibri"/>
              </a:rPr>
              <a:t>reconoce bien los aterrizajes; le cuesta más identificar los lanzamientos que no aterrizan.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6B1D"/>
                </a:solidFill>
                <a:latin typeface="Calibri"/>
              </a:rPr>
              <a:t>Experiencia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286000"/>
            <a:ext cx="4206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Cuantos más vuelos acumula SpaceX, mayor es la tasa de aterrizaje: el éxito crece año tras año desde 2013.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97764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6B1D"/>
                </a:solidFill>
                <a:latin typeface="Calibri"/>
              </a:rPr>
              <a:t>Órbita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572000"/>
            <a:ext cx="4206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Las órbitas con 100 % de éxito tienen pocas misiones; GTO, la más comercial, es la más difícil.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69164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6B1D"/>
                </a:solidFill>
                <a:latin typeface="Calibri"/>
              </a:rPr>
              <a:t>Sitio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86000"/>
            <a:ext cx="4206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KSC LC-39A destaca por su tasa de éxito; todos los sitios están en la costa, cerca de infraestructura y lejos de ciudades.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033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4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6B1D"/>
                </a:solidFill>
                <a:latin typeface="Calibri"/>
              </a:rPr>
              <a:t>Predicción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572000"/>
            <a:ext cx="4206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El mejor modelo (Árbol de decisión) alcanza 94,44 % de exactitud en prueba. Su error más frecuente es el falso positivo.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276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Fuente: results/model_results.json (notebook 07)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alessandroxlc · SpaceX Falcon 9 · IBM Data Science Capstone 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INNOVATIVE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Ideas innovadoras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47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533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Más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Añadir los lanzamientos posteriores a 2020: con solo 18 casos de prueba cada acierto vale 5,6 puntos.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535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Variables nuevas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Meteorología del día del lanzamiento y estado del mar en la zona de la barcaza.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537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Probabilidades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9834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Calibrar el modelo para estimar la probabilidad de aterrizaje y, con ella, el coste esperado.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13716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3533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Validación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7830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Entrenar con el pasado y probar con el futuro para medir la capacidad real de predicción.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29718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9535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Interpretabilidad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3832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Explicar cada predicción (importancia de variables, SHAP) para los equipos de negocio.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4572000"/>
            <a:ext cx="502920" cy="502920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5537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libri"/>
              </a:rPr>
              <a:t>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9834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Publicar el modelo como API y conectarlo al dashboard para simular ofertas en licitaciones.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1D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220"/>
                </a:solidFill>
                <a:latin typeface="Calibri"/>
              </a:rPr>
              <a:t>Apéndice: repositorio y reproducibilidad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6327648"/>
            <a:ext cx="3959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alessandroxlc · SpaceX Falcon 9 · IBM Data Science Capstone   48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713232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4620"/>
                <a:gridCol w="44577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Archivo en el repositorio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Recolección con API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notebooks/01_data_collection_api.ipynb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Web scraping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notebooks/02_data_collection_webscraping.ipynb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Data wrangling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notebooks/03_data_wrangling.ipynb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EDA con SQL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notebooks/04_eda_sql.ipynb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EDA con visualización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notebooks/05_eda_visualization.ipynb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Mapas con Folium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notebooks/06_interactive_map_folium.ipynb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Dashboard con Plotly Dash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dashboard/spacex_dash_app.py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notebooks/07_machine_learning_prediction.ipynb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Generador de esta presentación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presentation/generate_presentation.py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</a:lnL>
                    <a:lnR w="9525" cap="flat" cmpd="sng" algn="ctr">
                      <a:solidFill>
                        <a:srgbClr val="CBD5E1"/>
                      </a:solidFill>
                    </a:lnR>
                    <a:lnT w="9525" cap="flat" cmpd="sng" algn="ctr">
                      <a:solidFill>
                        <a:srgbClr val="CBD5E1"/>
                      </a:solidFill>
                    </a:lnT>
                    <a:lnB w="9525" cap="flat" cmpd="sng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38160" y="1325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libri"/>
              </a:rPr>
              <a:t>Reproducir 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874520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500" b="0">
                <a:solidFill>
                  <a:srgbClr val="1E293B"/>
                </a:solidFill>
                <a:latin typeface="Calibri"/>
              </a:rPr>
              <a:t>pip install -r requirements.txt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500" b="0">
                <a:solidFill>
                  <a:srgbClr val="1E293B"/>
                </a:solidFill>
                <a:latin typeface="Calibri"/>
              </a:rPr>
              <a:t>Ejecutar los notebooks 01 → 07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500" b="0">
                <a:solidFill>
                  <a:srgbClr val="1E293B"/>
                </a:solidFill>
                <a:latin typeface="Calibri"/>
              </a:rPr>
              <a:t>python scripts/capture_screenshots.py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500" b="0">
                <a:solidFill>
                  <a:srgbClr val="1E293B"/>
                </a:solidFill>
                <a:latin typeface="Calibri"/>
              </a:rPr>
              <a:t>python presentation/generate_presentation.py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51206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26B1D"/>
                </a:solidFill>
                <a:latin typeface="Calibri"/>
                <a:hlinkClick r:id="rId3"/>
              </a:rPr>
              <a:t>https://github.com/alessandroxlc/spacex-falcon9-capstone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26B1D"/>
      </a:hlink>
      <a:folHlink>
        <a:srgbClr val="F26B1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